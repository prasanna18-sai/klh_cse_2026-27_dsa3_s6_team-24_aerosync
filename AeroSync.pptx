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2BDE39-DB26-4263-B5D1-8F67A855230A}" v="4" dt="2026-08-13T09:37:47.6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vaitha k" userId="9148cc8a2139e4fe" providerId="LiveId" clId="{3CBB5CF4-16C1-4BBE-99A2-56F7BF0D780F}"/>
    <pc:docChg chg="undo custSel modSld">
      <pc:chgData name="advaitha k" userId="9148cc8a2139e4fe" providerId="LiveId" clId="{3CBB5CF4-16C1-4BBE-99A2-56F7BF0D780F}" dt="2026-08-13T09:38:05.942" v="33" actId="114"/>
      <pc:docMkLst>
        <pc:docMk/>
      </pc:docMkLst>
      <pc:sldChg chg="delSp mod">
        <pc:chgData name="advaitha k" userId="9148cc8a2139e4fe" providerId="LiveId" clId="{3CBB5CF4-16C1-4BBE-99A2-56F7BF0D780F}" dt="2026-08-13T09:25:45.964" v="3" actId="478"/>
        <pc:sldMkLst>
          <pc:docMk/>
          <pc:sldMk cId="0" sldId="256"/>
        </pc:sldMkLst>
        <pc:spChg chg="del">
          <ac:chgData name="advaitha k" userId="9148cc8a2139e4fe" providerId="LiveId" clId="{3CBB5CF4-16C1-4BBE-99A2-56F7BF0D780F}" dt="2026-08-13T09:25:45.964" v="3" actId="478"/>
          <ac:spMkLst>
            <pc:docMk/>
            <pc:sldMk cId="0" sldId="256"/>
            <ac:spMk id="2" creationId="{00000000-0000-0000-0000-000000000000}"/>
          </ac:spMkLst>
        </pc:spChg>
        <pc:spChg chg="del">
          <ac:chgData name="advaitha k" userId="9148cc8a2139e4fe" providerId="LiveId" clId="{3CBB5CF4-16C1-4BBE-99A2-56F7BF0D780F}" dt="2026-08-13T09:25:37.415" v="0" actId="478"/>
          <ac:spMkLst>
            <pc:docMk/>
            <pc:sldMk cId="0" sldId="256"/>
            <ac:spMk id="3" creationId="{00000000-0000-0000-0000-000000000000}"/>
          </ac:spMkLst>
        </pc:spChg>
        <pc:spChg chg="del">
          <ac:chgData name="advaitha k" userId="9148cc8a2139e4fe" providerId="LiveId" clId="{3CBB5CF4-16C1-4BBE-99A2-56F7BF0D780F}" dt="2026-08-13T09:25:40.157" v="1" actId="478"/>
          <ac:spMkLst>
            <pc:docMk/>
            <pc:sldMk cId="0" sldId="256"/>
            <ac:spMk id="4" creationId="{00000000-0000-0000-0000-000000000000}"/>
          </ac:spMkLst>
        </pc:spChg>
        <pc:spChg chg="del">
          <ac:chgData name="advaitha k" userId="9148cc8a2139e4fe" providerId="LiveId" clId="{3CBB5CF4-16C1-4BBE-99A2-56F7BF0D780F}" dt="2026-08-13T09:25:42.348" v="2" actId="478"/>
          <ac:spMkLst>
            <pc:docMk/>
            <pc:sldMk cId="0" sldId="256"/>
            <ac:spMk id="5" creationId="{00000000-0000-0000-0000-000000000000}"/>
          </ac:spMkLst>
        </pc:spChg>
      </pc:sldChg>
      <pc:sldChg chg="modSp mod">
        <pc:chgData name="advaitha k" userId="9148cc8a2139e4fe" providerId="LiveId" clId="{3CBB5CF4-16C1-4BBE-99A2-56F7BF0D780F}" dt="2026-08-13T09:38:05.942" v="33" actId="114"/>
        <pc:sldMkLst>
          <pc:docMk/>
          <pc:sldMk cId="0" sldId="257"/>
        </pc:sldMkLst>
        <pc:spChg chg="mod">
          <ac:chgData name="advaitha k" userId="9148cc8a2139e4fe" providerId="LiveId" clId="{3CBB5CF4-16C1-4BBE-99A2-56F7BF0D780F}" dt="2026-08-13T09:37:26.536" v="27" actId="12"/>
          <ac:spMkLst>
            <pc:docMk/>
            <pc:sldMk cId="0" sldId="257"/>
            <ac:spMk id="16" creationId="{00000000-0000-0000-0000-000000000000}"/>
          </ac:spMkLst>
        </pc:spChg>
        <pc:spChg chg="mod">
          <ac:chgData name="advaitha k" userId="9148cc8a2139e4fe" providerId="LiveId" clId="{3CBB5CF4-16C1-4BBE-99A2-56F7BF0D780F}" dt="2026-08-13T09:37:55.908" v="32" actId="113"/>
          <ac:spMkLst>
            <pc:docMk/>
            <pc:sldMk cId="0" sldId="257"/>
            <ac:spMk id="19" creationId="{00000000-0000-0000-0000-000000000000}"/>
          </ac:spMkLst>
        </pc:spChg>
        <pc:spChg chg="mod">
          <ac:chgData name="advaitha k" userId="9148cc8a2139e4fe" providerId="LiveId" clId="{3CBB5CF4-16C1-4BBE-99A2-56F7BF0D780F}" dt="2026-08-13T09:38:05.942" v="33" actId="114"/>
          <ac:spMkLst>
            <pc:docMk/>
            <pc:sldMk cId="0" sldId="257"/>
            <ac:spMk id="20" creationId="{00000000-0000-0000-0000-000000000000}"/>
          </ac:spMkLst>
        </pc:spChg>
      </pc:sldChg>
      <pc:sldChg chg="modSp mod">
        <pc:chgData name="advaitha k" userId="9148cc8a2139e4fe" providerId="LiveId" clId="{3CBB5CF4-16C1-4BBE-99A2-56F7BF0D780F}" dt="2026-08-13T09:36:11.057" v="19" actId="1076"/>
        <pc:sldMkLst>
          <pc:docMk/>
          <pc:sldMk cId="0" sldId="258"/>
        </pc:sldMkLst>
        <pc:spChg chg="mod">
          <ac:chgData name="advaitha k" userId="9148cc8a2139e4fe" providerId="LiveId" clId="{3CBB5CF4-16C1-4BBE-99A2-56F7BF0D780F}" dt="2026-08-13T09:33:07.903" v="12" actId="12"/>
          <ac:spMkLst>
            <pc:docMk/>
            <pc:sldMk cId="0" sldId="258"/>
            <ac:spMk id="5" creationId="{00000000-0000-0000-0000-000000000000}"/>
          </ac:spMkLst>
        </pc:spChg>
        <pc:spChg chg="mod">
          <ac:chgData name="advaitha k" userId="9148cc8a2139e4fe" providerId="LiveId" clId="{3CBB5CF4-16C1-4BBE-99A2-56F7BF0D780F}" dt="2026-08-13T09:36:11.057" v="19" actId="1076"/>
          <ac:spMkLst>
            <pc:docMk/>
            <pc:sldMk cId="0" sldId="258"/>
            <ac:spMk id="6" creationId="{00000000-0000-0000-0000-000000000000}"/>
          </ac:spMkLst>
        </pc:spChg>
      </pc:sldChg>
      <pc:sldChg chg="delSp mod">
        <pc:chgData name="advaitha k" userId="9148cc8a2139e4fe" providerId="LiveId" clId="{3CBB5CF4-16C1-4BBE-99A2-56F7BF0D780F}" dt="2026-08-13T09:25:58.533" v="6" actId="478"/>
        <pc:sldMkLst>
          <pc:docMk/>
          <pc:sldMk cId="0" sldId="261"/>
        </pc:sldMkLst>
        <pc:spChg chg="del">
          <ac:chgData name="advaitha k" userId="9148cc8a2139e4fe" providerId="LiveId" clId="{3CBB5CF4-16C1-4BBE-99A2-56F7BF0D780F}" dt="2026-08-13T09:25:58.533" v="6" actId="478"/>
          <ac:spMkLst>
            <pc:docMk/>
            <pc:sldMk cId="0" sldId="261"/>
            <ac:spMk id="2" creationId="{00000000-0000-0000-0000-000000000000}"/>
          </ac:spMkLst>
        </pc:spChg>
        <pc:spChg chg="del">
          <ac:chgData name="advaitha k" userId="9148cc8a2139e4fe" providerId="LiveId" clId="{3CBB5CF4-16C1-4BBE-99A2-56F7BF0D780F}" dt="2026-08-13T09:25:55.879" v="5" actId="478"/>
          <ac:spMkLst>
            <pc:docMk/>
            <pc:sldMk cId="0" sldId="261"/>
            <ac:spMk id="3" creationId="{00000000-0000-0000-0000-000000000000}"/>
          </ac:spMkLst>
        </pc:spChg>
        <pc:spChg chg="del">
          <ac:chgData name="advaitha k" userId="9148cc8a2139e4fe" providerId="LiveId" clId="{3CBB5CF4-16C1-4BBE-99A2-56F7BF0D780F}" dt="2026-08-13T09:25:53.933" v="4" actId="478"/>
          <ac:spMkLst>
            <pc:docMk/>
            <pc:sldMk cId="0" sldId="261"/>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258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4.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3.png"/><Relationship Id="rId5" Type="http://schemas.openxmlformats.org/officeDocument/2006/relationships/image" Target="../media/image3.png"/><Relationship Id="rId1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6" name="Shape 4"/>
          <p:cNvSpPr/>
          <p:nvPr/>
        </p:nvSpPr>
        <p:spPr>
          <a:xfrm>
            <a:off x="822960" y="685800"/>
            <a:ext cx="1005840" cy="1005840"/>
          </a:xfrm>
          <a:prstGeom prst="ellipse">
            <a:avLst/>
          </a:prstGeom>
          <a:solidFill>
            <a:srgbClr val="2E86AB"/>
          </a:solidFill>
          <a:ln/>
        </p:spPr>
      </p:sp>
      <p:pic>
        <p:nvPicPr>
          <p:cNvPr id="7" name="Image 0" descr="icons/plane_FFFFFF.png"/>
          <p:cNvPicPr>
            <a:picLocks noChangeAspect="1"/>
          </p:cNvPicPr>
          <p:nvPr/>
        </p:nvPicPr>
        <p:blipFill>
          <a:blip r:embed="rId3"/>
          <a:stretch>
            <a:fillRect/>
          </a:stretch>
        </p:blipFill>
        <p:spPr>
          <a:xfrm>
            <a:off x="1033272" y="896112"/>
            <a:ext cx="585216" cy="585216"/>
          </a:xfrm>
          <a:prstGeom prst="rect">
            <a:avLst/>
          </a:prstGeom>
        </p:spPr>
      </p:pic>
      <p:sp>
        <p:nvSpPr>
          <p:cNvPr id="8" name="Text 5"/>
          <p:cNvSpPr/>
          <p:nvPr/>
        </p:nvSpPr>
        <p:spPr>
          <a:xfrm>
            <a:off x="822960" y="1965960"/>
            <a:ext cx="9144000" cy="365760"/>
          </a:xfrm>
          <a:prstGeom prst="rect">
            <a:avLst/>
          </a:prstGeom>
          <a:noFill/>
          <a:ln/>
        </p:spPr>
        <p:txBody>
          <a:bodyPr wrap="square"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DSA-3 · ADVANCED DATA STRUCTURES &amp; ALGORITHMS</a:t>
            </a:r>
            <a:endParaRPr lang="en-US" sz="1300" dirty="0"/>
          </a:p>
        </p:txBody>
      </p:sp>
      <p:sp>
        <p:nvSpPr>
          <p:cNvPr id="9" name="Text 6"/>
          <p:cNvSpPr/>
          <p:nvPr/>
        </p:nvSpPr>
        <p:spPr>
          <a:xfrm>
            <a:off x="777240" y="2331720"/>
            <a:ext cx="10515600" cy="1371600"/>
          </a:xfrm>
          <a:prstGeom prst="rect">
            <a:avLst/>
          </a:prstGeom>
          <a:noFill/>
          <a:ln/>
        </p:spPr>
        <p:txBody>
          <a:bodyPr wrap="square"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AeroSync</a:t>
            </a:r>
            <a:endParaRPr lang="en-US" sz="6400" dirty="0"/>
          </a:p>
        </p:txBody>
      </p:sp>
      <p:sp>
        <p:nvSpPr>
          <p:cNvPr id="10" name="Text 7"/>
          <p:cNvSpPr/>
          <p:nvPr/>
        </p:nvSpPr>
        <p:spPr>
          <a:xfrm>
            <a:off x="822960" y="3611880"/>
            <a:ext cx="9601200" cy="54864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Advanced Aviation Search &amp; Decision Support System</a:t>
            </a:r>
            <a:endParaRPr lang="en-US" sz="2000" dirty="0"/>
          </a:p>
        </p:txBody>
      </p:sp>
      <p:sp>
        <p:nvSpPr>
          <p:cNvPr id="11" name="Shape 8"/>
          <p:cNvSpPr/>
          <p:nvPr/>
        </p:nvSpPr>
        <p:spPr>
          <a:xfrm>
            <a:off x="822960" y="4343400"/>
            <a:ext cx="3840480" cy="0"/>
          </a:xfrm>
          <a:prstGeom prst="line">
            <a:avLst/>
          </a:prstGeom>
          <a:noFill/>
          <a:ln w="19050">
            <a:solidFill>
              <a:srgbClr val="2E86AB"/>
            </a:solidFill>
            <a:prstDash val="solid"/>
          </a:ln>
        </p:spPr>
      </p:sp>
      <p:sp>
        <p:nvSpPr>
          <p:cNvPr id="12" name="Text 9"/>
          <p:cNvSpPr/>
          <p:nvPr/>
        </p:nvSpPr>
        <p:spPr>
          <a:xfrm>
            <a:off x="822960" y="4572000"/>
            <a:ext cx="3657600" cy="320040"/>
          </a:xfrm>
          <a:prstGeom prst="rect">
            <a:avLst/>
          </a:prstGeom>
          <a:noFill/>
          <a:ln/>
        </p:spPr>
        <p:txBody>
          <a:bodyPr wrap="square" rtlCol="0" anchor="ctr"/>
          <a:lstStyle/>
          <a:p>
            <a:pPr marL="0" indent="0">
              <a:buNone/>
            </a:pPr>
            <a:r>
              <a:rPr lang="en-US" sz="1200" b="1" kern="0" spc="150" dirty="0">
                <a:solidFill>
                  <a:srgbClr val="F2A541"/>
                </a:solidFill>
                <a:latin typeface="Calibri" pitchFamily="34" charset="0"/>
                <a:ea typeface="Calibri" pitchFamily="34" charset="-122"/>
                <a:cs typeface="Calibri" pitchFamily="34" charset="-120"/>
              </a:rPr>
              <a:t>TEAM MEMBERS</a:t>
            </a:r>
            <a:endParaRPr lang="en-US" sz="1200" dirty="0"/>
          </a:p>
        </p:txBody>
      </p:sp>
      <p:sp>
        <p:nvSpPr>
          <p:cNvPr id="13" name="Shape 10"/>
          <p:cNvSpPr/>
          <p:nvPr/>
        </p:nvSpPr>
        <p:spPr>
          <a:xfrm>
            <a:off x="822960" y="4937760"/>
            <a:ext cx="2331720" cy="594360"/>
          </a:xfrm>
          <a:prstGeom prst="roundRect">
            <a:avLst>
              <a:gd name="adj" fmla="val 15385"/>
            </a:avLst>
          </a:prstGeom>
          <a:solidFill>
            <a:srgbClr val="081729"/>
          </a:solidFill>
          <a:ln w="9525">
            <a:solidFill>
              <a:srgbClr val="2E86AB"/>
            </a:solidFill>
            <a:prstDash val="solid"/>
          </a:ln>
        </p:spPr>
      </p:sp>
      <p:sp>
        <p:nvSpPr>
          <p:cNvPr id="14" name="Text 11"/>
          <p:cNvSpPr/>
          <p:nvPr/>
        </p:nvSpPr>
        <p:spPr>
          <a:xfrm>
            <a:off x="82296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S.Harshitha</a:t>
            </a:r>
            <a:endParaRPr lang="en-US" sz="1400" dirty="0"/>
          </a:p>
        </p:txBody>
      </p:sp>
      <p:sp>
        <p:nvSpPr>
          <p:cNvPr id="15" name="Shape 12"/>
          <p:cNvSpPr/>
          <p:nvPr/>
        </p:nvSpPr>
        <p:spPr>
          <a:xfrm>
            <a:off x="3429000" y="4937760"/>
            <a:ext cx="2331720" cy="594360"/>
          </a:xfrm>
          <a:prstGeom prst="roundRect">
            <a:avLst>
              <a:gd name="adj" fmla="val 15385"/>
            </a:avLst>
          </a:prstGeom>
          <a:solidFill>
            <a:srgbClr val="081729"/>
          </a:solidFill>
          <a:ln w="9525">
            <a:solidFill>
              <a:srgbClr val="2E86AB"/>
            </a:solidFill>
            <a:prstDash val="solid"/>
          </a:ln>
        </p:spPr>
      </p:sp>
      <p:sp>
        <p:nvSpPr>
          <p:cNvPr id="16" name="Text 13"/>
          <p:cNvSpPr/>
          <p:nvPr/>
        </p:nvSpPr>
        <p:spPr>
          <a:xfrm>
            <a:off x="342900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CH.Prasanna</a:t>
            </a:r>
            <a:endParaRPr lang="en-US" sz="1400" dirty="0"/>
          </a:p>
        </p:txBody>
      </p:sp>
      <p:sp>
        <p:nvSpPr>
          <p:cNvPr id="17" name="Shape 14"/>
          <p:cNvSpPr/>
          <p:nvPr/>
        </p:nvSpPr>
        <p:spPr>
          <a:xfrm>
            <a:off x="6035040" y="4937760"/>
            <a:ext cx="2331720" cy="594360"/>
          </a:xfrm>
          <a:prstGeom prst="roundRect">
            <a:avLst>
              <a:gd name="adj" fmla="val 15385"/>
            </a:avLst>
          </a:prstGeom>
          <a:solidFill>
            <a:srgbClr val="081729"/>
          </a:solidFill>
          <a:ln w="9525">
            <a:solidFill>
              <a:srgbClr val="2E86AB"/>
            </a:solidFill>
            <a:prstDash val="solid"/>
          </a:ln>
        </p:spPr>
      </p:sp>
      <p:sp>
        <p:nvSpPr>
          <p:cNvPr id="18" name="Text 15"/>
          <p:cNvSpPr/>
          <p:nvPr/>
        </p:nvSpPr>
        <p:spPr>
          <a:xfrm>
            <a:off x="603504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K.V.A.Advaitha</a:t>
            </a:r>
            <a:endParaRPr lang="en-US" sz="1400" b="1" dirty="0">
              <a:solidFill>
                <a:srgbClr val="FFFFFF"/>
              </a:solidFill>
              <a:latin typeface="Calibri" pitchFamily="34" charset="0"/>
              <a:ea typeface="Calibri" pitchFamily="34" charset="-122"/>
              <a:cs typeface="Calibri" pitchFamily="34" charset="-120"/>
            </a:endParaRPr>
          </a:p>
        </p:txBody>
      </p:sp>
      <p:sp>
        <p:nvSpPr>
          <p:cNvPr id="21" name="Text 18"/>
          <p:cNvSpPr/>
          <p:nvPr/>
        </p:nvSpPr>
        <p:spPr>
          <a:xfrm>
            <a:off x="822960" y="6080760"/>
            <a:ext cx="9144000" cy="365760"/>
          </a:xfrm>
          <a:prstGeom prst="rect">
            <a:avLst/>
          </a:prstGeom>
          <a:noFill/>
          <a:ln/>
        </p:spPr>
        <p:txBody>
          <a:bodyPr wrap="square" rtlCol="0" anchor="ctr"/>
          <a:lstStyle/>
          <a:p>
            <a:pPr marL="0" indent="0">
              <a:buNone/>
            </a:pPr>
            <a:r>
              <a:rPr lang="en-US" sz="1200" dirty="0">
                <a:solidFill>
                  <a:srgbClr val="8FA3C4"/>
                </a:solidFill>
                <a:latin typeface="Calibri" pitchFamily="34" charset="0"/>
                <a:ea typeface="Calibri" pitchFamily="34" charset="-122"/>
                <a:cs typeface="Calibri" pitchFamily="34" charset="-120"/>
              </a:rPr>
              <a:t>Course: DSA-3 (Advanced Data Structures &amp; Algorithms)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0B1F3A"/>
          </a:solidFill>
          <a:ln/>
        </p:spPr>
      </p:sp>
      <p:sp>
        <p:nvSpPr>
          <p:cNvPr id="3" name="Shape 1"/>
          <p:cNvSpPr/>
          <p:nvPr/>
        </p:nvSpPr>
        <p:spPr>
          <a:xfrm>
            <a:off x="1234440" y="914400"/>
            <a:ext cx="1645920" cy="1645920"/>
          </a:xfrm>
          <a:prstGeom prst="ellipse">
            <a:avLst/>
          </a:prstGeom>
          <a:solidFill>
            <a:srgbClr val="2E86AB"/>
          </a:solidFill>
          <a:ln/>
        </p:spPr>
      </p:sp>
      <p:pic>
        <p:nvPicPr>
          <p:cNvPr id="4" name="Image 0" descr="icons/clipboard_FFFFFF.png"/>
          <p:cNvPicPr>
            <a:picLocks noChangeAspect="1"/>
          </p:cNvPicPr>
          <p:nvPr/>
        </p:nvPicPr>
        <p:blipFill>
          <a:blip r:embed="rId3"/>
          <a:stretch>
            <a:fillRect/>
          </a:stretch>
        </p:blipFill>
        <p:spPr>
          <a:xfrm>
            <a:off x="1600200" y="1280160"/>
            <a:ext cx="914400" cy="914400"/>
          </a:xfrm>
          <a:prstGeom prst="rect">
            <a:avLst/>
          </a:prstGeom>
        </p:spPr>
      </p:pic>
      <p:sp>
        <p:nvSpPr>
          <p:cNvPr id="5" name="Text 2"/>
          <p:cNvSpPr/>
          <p:nvPr/>
        </p:nvSpPr>
        <p:spPr>
          <a:xfrm>
            <a:off x="502920" y="2834640"/>
            <a:ext cx="3108960" cy="6400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Abstract</a:t>
            </a:r>
            <a:endParaRPr lang="en-US" sz="3600" dirty="0"/>
          </a:p>
        </p:txBody>
      </p:sp>
      <p:sp>
        <p:nvSpPr>
          <p:cNvPr id="6" name="Text 3"/>
          <p:cNvSpPr/>
          <p:nvPr/>
        </p:nvSpPr>
        <p:spPr>
          <a:xfrm>
            <a:off x="502920" y="3520440"/>
            <a:ext cx="3108960" cy="12801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 platform for intelligent, algorithm-driven aviation data management.</a:t>
            </a:r>
            <a:endParaRPr lang="en-US" sz="1300" dirty="0"/>
          </a:p>
        </p:txBody>
      </p:sp>
      <p:pic>
        <p:nvPicPr>
          <p:cNvPr id="7" name="Image 1" descr="icons/plane_F2A541.png"/>
          <p:cNvPicPr>
            <a:picLocks noChangeAspect="1"/>
          </p:cNvPicPr>
          <p:nvPr/>
        </p:nvPicPr>
        <p:blipFill>
          <a:blip r:embed="rId4"/>
          <a:stretch>
            <a:fillRect/>
          </a:stretch>
        </p:blipFill>
        <p:spPr>
          <a:xfrm>
            <a:off x="502920" y="5029200"/>
            <a:ext cx="256032" cy="256032"/>
          </a:xfrm>
          <a:prstGeom prst="rect">
            <a:avLst/>
          </a:prstGeom>
        </p:spPr>
      </p:pic>
      <p:sp>
        <p:nvSpPr>
          <p:cNvPr id="8" name="Text 4"/>
          <p:cNvSpPr/>
          <p:nvPr/>
        </p:nvSpPr>
        <p:spPr>
          <a:xfrm>
            <a:off x="868680" y="4983480"/>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Flights</a:t>
            </a:r>
            <a:endParaRPr lang="en-US" sz="1250" dirty="0"/>
          </a:p>
        </p:txBody>
      </p:sp>
      <p:pic>
        <p:nvPicPr>
          <p:cNvPr id="9" name="Image 2" descr="icons/building_F2A541.png"/>
          <p:cNvPicPr>
            <a:picLocks noChangeAspect="1"/>
          </p:cNvPicPr>
          <p:nvPr/>
        </p:nvPicPr>
        <p:blipFill>
          <a:blip r:embed="rId5"/>
          <a:stretch>
            <a:fillRect/>
          </a:stretch>
        </p:blipFill>
        <p:spPr>
          <a:xfrm>
            <a:off x="502920" y="5413248"/>
            <a:ext cx="256032" cy="256032"/>
          </a:xfrm>
          <a:prstGeom prst="rect">
            <a:avLst/>
          </a:prstGeom>
        </p:spPr>
      </p:pic>
      <p:sp>
        <p:nvSpPr>
          <p:cNvPr id="10" name="Text 5"/>
          <p:cNvSpPr/>
          <p:nvPr/>
        </p:nvSpPr>
        <p:spPr>
          <a:xfrm>
            <a:off x="868680" y="5367528"/>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Airports</a:t>
            </a:r>
            <a:endParaRPr lang="en-US" sz="1250" dirty="0"/>
          </a:p>
        </p:txBody>
      </p:sp>
      <p:pic>
        <p:nvPicPr>
          <p:cNvPr id="11" name="Image 3" descr="icons/users_F2A541.png"/>
          <p:cNvPicPr>
            <a:picLocks noChangeAspect="1"/>
          </p:cNvPicPr>
          <p:nvPr/>
        </p:nvPicPr>
        <p:blipFill>
          <a:blip r:embed="rId6"/>
          <a:stretch>
            <a:fillRect/>
          </a:stretch>
        </p:blipFill>
        <p:spPr>
          <a:xfrm>
            <a:off x="502920" y="5797296"/>
            <a:ext cx="256032" cy="256032"/>
          </a:xfrm>
          <a:prstGeom prst="rect">
            <a:avLst/>
          </a:prstGeom>
        </p:spPr>
      </p:pic>
      <p:sp>
        <p:nvSpPr>
          <p:cNvPr id="12" name="Text 6"/>
          <p:cNvSpPr/>
          <p:nvPr/>
        </p:nvSpPr>
        <p:spPr>
          <a:xfrm>
            <a:off x="868680" y="5751576"/>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Crew &amp; Passengers</a:t>
            </a:r>
            <a:endParaRPr lang="en-US" sz="1250" dirty="0"/>
          </a:p>
        </p:txBody>
      </p:sp>
      <p:pic>
        <p:nvPicPr>
          <p:cNvPr id="13" name="Image 4" descr="icons/map_F2A541.png"/>
          <p:cNvPicPr>
            <a:picLocks noChangeAspect="1"/>
          </p:cNvPicPr>
          <p:nvPr/>
        </p:nvPicPr>
        <p:blipFill>
          <a:blip r:embed="rId7"/>
          <a:stretch>
            <a:fillRect/>
          </a:stretch>
        </p:blipFill>
        <p:spPr>
          <a:xfrm>
            <a:off x="502920" y="6181344"/>
            <a:ext cx="256032" cy="256032"/>
          </a:xfrm>
          <a:prstGeom prst="rect">
            <a:avLst/>
          </a:prstGeom>
        </p:spPr>
      </p:pic>
      <p:sp>
        <p:nvSpPr>
          <p:cNvPr id="14" name="Text 7"/>
          <p:cNvSpPr/>
          <p:nvPr/>
        </p:nvSpPr>
        <p:spPr>
          <a:xfrm>
            <a:off x="868680" y="6135624"/>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Gates</a:t>
            </a:r>
            <a:endParaRPr lang="en-US" sz="1250" dirty="0"/>
          </a:p>
        </p:txBody>
      </p:sp>
      <p:sp>
        <p:nvSpPr>
          <p:cNvPr id="15" name="Text 8"/>
          <p:cNvSpPr/>
          <p:nvPr/>
        </p:nvSpPr>
        <p:spPr>
          <a:xfrm>
            <a:off x="4572000" y="548640"/>
            <a:ext cx="7040880" cy="457200"/>
          </a:xfrm>
          <a:prstGeom prst="rect">
            <a:avLst/>
          </a:prstGeom>
          <a:noFill/>
          <a:ln/>
        </p:spPr>
        <p:txBody>
          <a:bodyPr wrap="square" rtlCol="0" anchor="ctr"/>
          <a:lstStyle/>
          <a:p>
            <a:pPr marL="0" indent="0">
              <a:buNone/>
            </a:pPr>
            <a:r>
              <a:rPr lang="en-US" sz="2000" b="1" dirty="0">
                <a:solidFill>
                  <a:srgbClr val="1A2233"/>
                </a:solidFill>
                <a:latin typeface="Cambria" pitchFamily="34" charset="0"/>
                <a:ea typeface="Cambria" pitchFamily="34" charset="-122"/>
                <a:cs typeface="Cambria" pitchFamily="34" charset="-120"/>
              </a:rPr>
              <a:t>The Challenge of Aviation Data</a:t>
            </a:r>
            <a:endParaRPr lang="en-US" sz="2000" dirty="0"/>
          </a:p>
        </p:txBody>
      </p:sp>
      <p:sp>
        <p:nvSpPr>
          <p:cNvPr id="16" name="Text 9"/>
          <p:cNvSpPr/>
          <p:nvPr/>
        </p:nvSpPr>
        <p:spPr>
          <a:xfrm>
            <a:off x="4572000" y="1143000"/>
            <a:ext cx="7040880" cy="1737360"/>
          </a:xfrm>
          <a:prstGeom prst="rect">
            <a:avLst/>
          </a:prstGeom>
          <a:noFill/>
          <a:ln/>
        </p:spPr>
        <p:txBody>
          <a:bodyPr wrap="square" rtlCol="0" anchor="ctr"/>
          <a:lstStyle/>
          <a:p>
            <a:pPr>
              <a:lnSpc>
                <a:spcPct val="115000"/>
              </a:lnSpc>
              <a:spcAft>
                <a:spcPts val="1400"/>
              </a:spcAft>
            </a:pPr>
            <a:r>
              <a:rPr lang="en-IN" sz="1400" dirty="0"/>
              <a:t>The aviation industry manages vast amounts of data, including flights, aircraft, crew, passengers, gates, and schedules. Efficient handling of this data is essential for smooth airport operations and timely decisions. However, traditional systems mainly focus on data storage and retrieval, offering limited support for intelligent search and operational decision-making.</a:t>
            </a:r>
            <a:endParaRPr lang="en-US" sz="1350" dirty="0"/>
          </a:p>
        </p:txBody>
      </p:sp>
      <p:sp>
        <p:nvSpPr>
          <p:cNvPr id="17" name="Shape 10"/>
          <p:cNvSpPr/>
          <p:nvPr/>
        </p:nvSpPr>
        <p:spPr>
          <a:xfrm>
            <a:off x="4572000" y="3063240"/>
            <a:ext cx="7040880" cy="2834640"/>
          </a:xfrm>
          <a:prstGeom prst="roundRect">
            <a:avLst>
              <a:gd name="adj" fmla="val 3871"/>
            </a:avLst>
          </a:prstGeom>
          <a:solidFill>
            <a:srgbClr val="FFFFFF"/>
          </a:solidFill>
          <a:ln w="12700">
            <a:solidFill>
              <a:srgbClr val="E3E8F0"/>
            </a:solidFill>
            <a:prstDash val="solid"/>
          </a:ln>
          <a:effectLst>
            <a:outerShdw blurRad="101600" dist="38100" dir="5400000" algn="bl" rotWithShape="0">
              <a:srgbClr val="1A2233">
                <a:alpha val="12000"/>
              </a:srgbClr>
            </a:outerShdw>
          </a:effectLst>
        </p:spPr>
      </p:sp>
      <p:sp>
        <p:nvSpPr>
          <p:cNvPr id="18" name="Text 11"/>
          <p:cNvSpPr/>
          <p:nvPr/>
        </p:nvSpPr>
        <p:spPr>
          <a:xfrm>
            <a:off x="4892040" y="3291840"/>
            <a:ext cx="6400800" cy="365760"/>
          </a:xfrm>
          <a:prstGeom prst="rect">
            <a:avLst/>
          </a:prstGeom>
          <a:noFill/>
          <a:ln/>
        </p:spPr>
        <p:txBody>
          <a:bodyPr wrap="square" rtlCol="0" anchor="ctr"/>
          <a:lstStyle/>
          <a:p>
            <a:pPr marL="0" indent="0">
              <a:buNone/>
            </a:pPr>
            <a:r>
              <a:rPr lang="en-US" sz="1500" b="1" dirty="0">
                <a:solidFill>
                  <a:srgbClr val="2E86AB"/>
                </a:solidFill>
                <a:latin typeface="Calibri" pitchFamily="34" charset="0"/>
                <a:ea typeface="Calibri" pitchFamily="34" charset="-122"/>
                <a:cs typeface="Calibri" pitchFamily="34" charset="-120"/>
              </a:rPr>
              <a:t>AeroSync's Approach</a:t>
            </a:r>
            <a:endParaRPr lang="en-US" sz="1500" dirty="0"/>
          </a:p>
        </p:txBody>
      </p:sp>
      <p:sp>
        <p:nvSpPr>
          <p:cNvPr id="19" name="Text 12"/>
          <p:cNvSpPr/>
          <p:nvPr/>
        </p:nvSpPr>
        <p:spPr>
          <a:xfrm>
            <a:off x="4892040" y="3749040"/>
            <a:ext cx="6400800" cy="1051560"/>
          </a:xfrm>
          <a:prstGeom prst="rect">
            <a:avLst/>
          </a:prstGeom>
          <a:noFill/>
          <a:ln/>
        </p:spPr>
        <p:txBody>
          <a:bodyPr wrap="square" rtlCol="0" anchor="ctr"/>
          <a:lstStyle/>
          <a:p>
            <a:pPr>
              <a:lnSpc>
                <a:spcPct val="115000"/>
              </a:lnSpc>
            </a:pPr>
            <a:r>
              <a:rPr lang="en-IN" sz="1400" dirty="0" err="1"/>
              <a:t>AeroSync</a:t>
            </a:r>
            <a:r>
              <a:rPr lang="en-IN" sz="1400" dirty="0"/>
              <a:t> is an intelligent aviation search and decision-support system that organizes and manages aviation data efficiently. It uses advanced data structures and algorithms for fast searching, resource allocation, scheduling assistance, and intelligent decision-making.</a:t>
            </a:r>
            <a:endParaRPr lang="en-US" sz="1300" dirty="0"/>
          </a:p>
        </p:txBody>
      </p:sp>
      <p:sp>
        <p:nvSpPr>
          <p:cNvPr id="20" name="Text 13"/>
          <p:cNvSpPr/>
          <p:nvPr/>
        </p:nvSpPr>
        <p:spPr>
          <a:xfrm>
            <a:off x="4892040" y="4892040"/>
            <a:ext cx="6400800" cy="914400"/>
          </a:xfrm>
          <a:prstGeom prst="rect">
            <a:avLst/>
          </a:prstGeom>
          <a:noFill/>
          <a:ln/>
        </p:spPr>
        <p:txBody>
          <a:bodyPr wrap="square" rtlCol="0" anchor="ctr"/>
          <a:lstStyle/>
          <a:p>
            <a:pPr marL="0" indent="0">
              <a:lnSpc>
                <a:spcPct val="115000"/>
              </a:lnSpc>
              <a:buNone/>
            </a:pPr>
            <a:r>
              <a:rPr lang="en-US" sz="1300" dirty="0">
                <a:solidFill>
                  <a:srgbClr val="5B677A"/>
                </a:solidFill>
                <a:latin typeface="Calibri" pitchFamily="34" charset="0"/>
                <a:ea typeface="Calibri" pitchFamily="34" charset="-122"/>
                <a:cs typeface="Calibri" pitchFamily="34" charset="-120"/>
              </a:rPr>
              <a:t>As the project evolves, advanced algorithmic techniques will be incorporated to improve operational efficiency and demonstrate real-world applications of Advanced Data Structures and Algorithms.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0B1F3A"/>
          </a:solidFill>
          <a:ln/>
        </p:spPr>
      </p:sp>
      <p:pic>
        <p:nvPicPr>
          <p:cNvPr id="3" name="Image 0" descr="icons/exchange_F2A541.png"/>
          <p:cNvPicPr>
            <a:picLocks noChangeAspect="1"/>
          </p:cNvPicPr>
          <p:nvPr/>
        </p:nvPicPr>
        <p:blipFill>
          <a:blip r:embed="rId3"/>
          <a:stretch>
            <a:fillRect/>
          </a:stretch>
        </p:blipFill>
        <p:spPr>
          <a:xfrm>
            <a:off x="713232" y="667512"/>
            <a:ext cx="448056" cy="448056"/>
          </a:xfrm>
          <a:prstGeom prst="rect">
            <a:avLst/>
          </a:prstGeom>
        </p:spPr>
      </p:pic>
      <p:sp>
        <p:nvSpPr>
          <p:cNvPr id="4" name="Text 1"/>
          <p:cNvSpPr/>
          <p:nvPr/>
        </p:nvSpPr>
        <p:spPr>
          <a:xfrm>
            <a:off x="1508760" y="548640"/>
            <a:ext cx="7772400" cy="685800"/>
          </a:xfrm>
          <a:prstGeom prst="rect">
            <a:avLst/>
          </a:prstGeom>
          <a:noFill/>
          <a:ln/>
        </p:spPr>
        <p:txBody>
          <a:bodyPr wrap="square" rtlCol="0" anchor="ctr"/>
          <a:lstStyle/>
          <a:p>
            <a:pPr marL="0" indent="0">
              <a:buNone/>
            </a:pPr>
            <a:r>
              <a:rPr lang="en-US" sz="3200" b="1" dirty="0">
                <a:solidFill>
                  <a:srgbClr val="1A2233"/>
                </a:solidFill>
                <a:latin typeface="Cambria" pitchFamily="34" charset="0"/>
                <a:ea typeface="Cambria" pitchFamily="34" charset="-122"/>
                <a:cs typeface="Cambria" pitchFamily="34" charset="-120"/>
              </a:rPr>
              <a:t>Problem Statement</a:t>
            </a:r>
            <a:endParaRPr lang="en-US" sz="3200" dirty="0"/>
          </a:p>
        </p:txBody>
      </p:sp>
      <p:sp>
        <p:nvSpPr>
          <p:cNvPr id="5" name="Text 2"/>
          <p:cNvSpPr/>
          <p:nvPr/>
        </p:nvSpPr>
        <p:spPr>
          <a:xfrm>
            <a:off x="548640" y="1554480"/>
            <a:ext cx="11064240" cy="1188720"/>
          </a:xfrm>
          <a:prstGeom prst="rect">
            <a:avLst/>
          </a:prstGeom>
          <a:noFill/>
          <a:ln/>
        </p:spPr>
        <p:txBody>
          <a:bodyPr wrap="square" rtlCol="0" anchor="ctr"/>
          <a:lstStyle/>
          <a:p>
            <a:pPr marL="285750" indent="-285750">
              <a:lnSpc>
                <a:spcPct val="120000"/>
              </a:lnSpc>
              <a:buFont typeface="Arial" panose="020B0604020202020204" pitchFamily="34" charset="0"/>
              <a:buChar char="•"/>
            </a:pPr>
            <a:r>
              <a:rPr lang="en-IN" sz="1400" dirty="0"/>
              <a:t>Modern airports handle large amounts of interconnected data, including flights, aircraft, passengers, crew, gates, and schedules. As this data grows, quick information retrieval and efficient operational decision-making become increasingly challenging.</a:t>
            </a:r>
            <a:endParaRPr lang="en-US" sz="1400" dirty="0"/>
          </a:p>
        </p:txBody>
      </p:sp>
      <p:sp>
        <p:nvSpPr>
          <p:cNvPr id="6" name="Text 3"/>
          <p:cNvSpPr/>
          <p:nvPr/>
        </p:nvSpPr>
        <p:spPr>
          <a:xfrm>
            <a:off x="548640" y="2499360"/>
            <a:ext cx="11064240" cy="1188720"/>
          </a:xfrm>
          <a:prstGeom prst="rect">
            <a:avLst/>
          </a:prstGeom>
          <a:noFill/>
          <a:ln/>
        </p:spPr>
        <p:txBody>
          <a:bodyPr wrap="square" rtlCol="0" anchor="ctr"/>
          <a:lstStyle/>
          <a:p>
            <a:pPr marL="285750" indent="-285750">
              <a:lnSpc>
                <a:spcPct val="120000"/>
              </a:lnSpc>
              <a:buFont typeface="Arial" panose="020B0604020202020204" pitchFamily="34" charset="0"/>
              <a:buChar char="•"/>
            </a:pPr>
            <a:r>
              <a:rPr lang="en-IN" sz="1400" dirty="0"/>
              <a:t>Existing systems mainly focus on data management, with limited algorithm-based decision support. There is a need for a platform that enables efficient aviation resource management while applying advanced algorithms for scheduling, matching, optimization, and intelligent decision-making.</a:t>
            </a:r>
            <a:endParaRPr lang="en-US" sz="1400" dirty="0"/>
          </a:p>
        </p:txBody>
      </p:sp>
      <p:sp>
        <p:nvSpPr>
          <p:cNvPr id="7" name="Shape 4"/>
          <p:cNvSpPr/>
          <p:nvPr/>
        </p:nvSpPr>
        <p:spPr>
          <a:xfrm>
            <a:off x="54864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8" name="Shape 5"/>
          <p:cNvSpPr/>
          <p:nvPr/>
        </p:nvSpPr>
        <p:spPr>
          <a:xfrm>
            <a:off x="822960" y="4434840"/>
            <a:ext cx="640080" cy="640080"/>
          </a:xfrm>
          <a:prstGeom prst="ellipse">
            <a:avLst/>
          </a:prstGeom>
          <a:solidFill>
            <a:srgbClr val="2E86AB"/>
          </a:solidFill>
          <a:ln/>
        </p:spPr>
      </p:sp>
      <p:pic>
        <p:nvPicPr>
          <p:cNvPr id="9" name="Image 1" descr="icons/database_FFFFFF.png"/>
          <p:cNvPicPr>
            <a:picLocks noChangeAspect="1"/>
          </p:cNvPicPr>
          <p:nvPr/>
        </p:nvPicPr>
        <p:blipFill>
          <a:blip r:embed="rId4"/>
          <a:stretch>
            <a:fillRect/>
          </a:stretch>
        </p:blipFill>
        <p:spPr>
          <a:xfrm>
            <a:off x="960120" y="4572000"/>
            <a:ext cx="365760" cy="365760"/>
          </a:xfrm>
          <a:prstGeom prst="rect">
            <a:avLst/>
          </a:prstGeom>
        </p:spPr>
      </p:pic>
      <p:sp>
        <p:nvSpPr>
          <p:cNvPr id="10" name="Text 6"/>
          <p:cNvSpPr/>
          <p:nvPr/>
        </p:nvSpPr>
        <p:spPr>
          <a:xfrm>
            <a:off x="82296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Growing Data Volume</a:t>
            </a:r>
            <a:endParaRPr lang="en-US" sz="1400" dirty="0"/>
          </a:p>
        </p:txBody>
      </p:sp>
      <p:sp>
        <p:nvSpPr>
          <p:cNvPr id="11" name="Text 7"/>
          <p:cNvSpPr/>
          <p:nvPr/>
        </p:nvSpPr>
        <p:spPr>
          <a:xfrm>
            <a:off x="82296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Flights, aircraft, crew, and passenger records scale quickly, straining simple retrieval.</a:t>
            </a:r>
            <a:endParaRPr lang="en-US" sz="1100" dirty="0"/>
          </a:p>
        </p:txBody>
      </p:sp>
      <p:sp>
        <p:nvSpPr>
          <p:cNvPr id="12" name="Shape 8"/>
          <p:cNvSpPr/>
          <p:nvPr/>
        </p:nvSpPr>
        <p:spPr>
          <a:xfrm>
            <a:off x="434340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3" name="Shape 9"/>
          <p:cNvSpPr/>
          <p:nvPr/>
        </p:nvSpPr>
        <p:spPr>
          <a:xfrm>
            <a:off x="4617720" y="4434840"/>
            <a:ext cx="640080" cy="640080"/>
          </a:xfrm>
          <a:prstGeom prst="ellipse">
            <a:avLst/>
          </a:prstGeom>
          <a:solidFill>
            <a:srgbClr val="2E86AB"/>
          </a:solidFill>
          <a:ln/>
        </p:spPr>
      </p:sp>
      <p:pic>
        <p:nvPicPr>
          <p:cNvPr id="14" name="Image 2" descr="icons/search_FFFFFF.png"/>
          <p:cNvPicPr>
            <a:picLocks noChangeAspect="1"/>
          </p:cNvPicPr>
          <p:nvPr/>
        </p:nvPicPr>
        <p:blipFill>
          <a:blip r:embed="rId5"/>
          <a:stretch>
            <a:fillRect/>
          </a:stretch>
        </p:blipFill>
        <p:spPr>
          <a:xfrm>
            <a:off x="4754880" y="4572000"/>
            <a:ext cx="365760" cy="365760"/>
          </a:xfrm>
          <a:prstGeom prst="rect">
            <a:avLst/>
          </a:prstGeom>
        </p:spPr>
      </p:pic>
      <p:sp>
        <p:nvSpPr>
          <p:cNvPr id="15" name="Text 10"/>
          <p:cNvSpPr/>
          <p:nvPr/>
        </p:nvSpPr>
        <p:spPr>
          <a:xfrm>
            <a:off x="461772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Limited Intelligent Search</a:t>
            </a:r>
            <a:endParaRPr lang="en-US" sz="1400" dirty="0"/>
          </a:p>
        </p:txBody>
      </p:sp>
      <p:sp>
        <p:nvSpPr>
          <p:cNvPr id="16" name="Text 11"/>
          <p:cNvSpPr/>
          <p:nvPr/>
        </p:nvSpPr>
        <p:spPr>
          <a:xfrm>
            <a:off x="461772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Existing tools store and retrieve data but rarely support smart, algorithm-driven search.</a:t>
            </a:r>
            <a:endParaRPr lang="en-US" sz="1100" dirty="0"/>
          </a:p>
        </p:txBody>
      </p:sp>
      <p:sp>
        <p:nvSpPr>
          <p:cNvPr id="17" name="Shape 12"/>
          <p:cNvSpPr/>
          <p:nvPr/>
        </p:nvSpPr>
        <p:spPr>
          <a:xfrm>
            <a:off x="813816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8" name="Shape 13"/>
          <p:cNvSpPr/>
          <p:nvPr/>
        </p:nvSpPr>
        <p:spPr>
          <a:xfrm>
            <a:off x="8412480" y="4434840"/>
            <a:ext cx="640080" cy="640080"/>
          </a:xfrm>
          <a:prstGeom prst="ellipse">
            <a:avLst/>
          </a:prstGeom>
          <a:solidFill>
            <a:srgbClr val="2E86AB"/>
          </a:solidFill>
          <a:ln/>
        </p:spPr>
      </p:sp>
      <p:pic>
        <p:nvPicPr>
          <p:cNvPr id="19" name="Image 3" descr="icons/brain_FFFFFF.png"/>
          <p:cNvPicPr>
            <a:picLocks noChangeAspect="1"/>
          </p:cNvPicPr>
          <p:nvPr/>
        </p:nvPicPr>
        <p:blipFill>
          <a:blip r:embed="rId6"/>
          <a:stretch>
            <a:fillRect/>
          </a:stretch>
        </p:blipFill>
        <p:spPr>
          <a:xfrm>
            <a:off x="8549640" y="4572000"/>
            <a:ext cx="365760" cy="365760"/>
          </a:xfrm>
          <a:prstGeom prst="rect">
            <a:avLst/>
          </a:prstGeom>
        </p:spPr>
      </p:pic>
      <p:sp>
        <p:nvSpPr>
          <p:cNvPr id="20" name="Text 14"/>
          <p:cNvSpPr/>
          <p:nvPr/>
        </p:nvSpPr>
        <p:spPr>
          <a:xfrm>
            <a:off x="841248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Weak Decision Support</a:t>
            </a:r>
            <a:endParaRPr lang="en-US" sz="1400" dirty="0"/>
          </a:p>
        </p:txBody>
      </p:sp>
      <p:sp>
        <p:nvSpPr>
          <p:cNvPr id="21" name="Text 15"/>
          <p:cNvSpPr/>
          <p:nvPr/>
        </p:nvSpPr>
        <p:spPr>
          <a:xfrm>
            <a:off x="841248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Little emphasis on scheduling, matching, and optimization for real operational decisions.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2233"/>
                </a:solidFill>
                <a:latin typeface="Cambria" pitchFamily="34" charset="0"/>
                <a:ea typeface="Cambria" pitchFamily="34" charset="-122"/>
                <a:cs typeface="Cambria" pitchFamily="34" charset="-120"/>
              </a:rPr>
              <a:t>Proposed Functionalities</a:t>
            </a:r>
            <a:endParaRPr lang="en-US" sz="3000" dirty="0"/>
          </a:p>
        </p:txBody>
      </p:sp>
      <p:sp>
        <p:nvSpPr>
          <p:cNvPr id="3" name="Shape 1"/>
          <p:cNvSpPr/>
          <p:nvPr/>
        </p:nvSpPr>
        <p:spPr>
          <a:xfrm>
            <a:off x="548640"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 name="Shape 2"/>
          <p:cNvSpPr/>
          <p:nvPr/>
        </p:nvSpPr>
        <p:spPr>
          <a:xfrm>
            <a:off x="713232" y="1353312"/>
            <a:ext cx="3310128" cy="566928"/>
          </a:xfrm>
          <a:prstGeom prst="roundRect">
            <a:avLst>
              <a:gd name="adj" fmla="val 16129"/>
            </a:avLst>
          </a:prstGeom>
          <a:solidFill>
            <a:srgbClr val="0B1F3A"/>
          </a:solidFill>
          <a:ln/>
        </p:spPr>
      </p:sp>
      <p:pic>
        <p:nvPicPr>
          <p:cNvPr id="5" name="Image 0" descr="icons/layers_FFFFFF.png"/>
          <p:cNvPicPr>
            <a:picLocks noChangeAspect="1"/>
          </p:cNvPicPr>
          <p:nvPr/>
        </p:nvPicPr>
        <p:blipFill>
          <a:blip r:embed="rId3"/>
          <a:stretch>
            <a:fillRect/>
          </a:stretch>
        </p:blipFill>
        <p:spPr>
          <a:xfrm>
            <a:off x="841248" y="1481328"/>
            <a:ext cx="329184" cy="329184"/>
          </a:xfrm>
          <a:prstGeom prst="rect">
            <a:avLst/>
          </a:prstGeom>
        </p:spPr>
      </p:pic>
      <p:sp>
        <p:nvSpPr>
          <p:cNvPr id="6" name="Text 3"/>
          <p:cNvSpPr/>
          <p:nvPr/>
        </p:nvSpPr>
        <p:spPr>
          <a:xfrm>
            <a:off x="1261872"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Core Modules</a:t>
            </a:r>
            <a:endParaRPr lang="en-US" sz="1450" dirty="0"/>
          </a:p>
        </p:txBody>
      </p:sp>
      <p:sp>
        <p:nvSpPr>
          <p:cNvPr id="7" name="Shape 4"/>
          <p:cNvSpPr/>
          <p:nvPr/>
        </p:nvSpPr>
        <p:spPr>
          <a:xfrm>
            <a:off x="749808" y="2176272"/>
            <a:ext cx="365760" cy="365760"/>
          </a:xfrm>
          <a:prstGeom prst="ellipse">
            <a:avLst/>
          </a:prstGeom>
          <a:solidFill>
            <a:srgbClr val="DCE3EE"/>
          </a:solidFill>
          <a:ln/>
        </p:spPr>
      </p:sp>
      <p:pic>
        <p:nvPicPr>
          <p:cNvPr id="8" name="Image 1" descr="icons/plane_2E86AB.png"/>
          <p:cNvPicPr>
            <a:picLocks noChangeAspect="1"/>
          </p:cNvPicPr>
          <p:nvPr/>
        </p:nvPicPr>
        <p:blipFill>
          <a:blip r:embed="rId4"/>
          <a:stretch>
            <a:fillRect/>
          </a:stretch>
        </p:blipFill>
        <p:spPr>
          <a:xfrm>
            <a:off x="832104" y="2258568"/>
            <a:ext cx="201168" cy="201168"/>
          </a:xfrm>
          <a:prstGeom prst="rect">
            <a:avLst/>
          </a:prstGeom>
        </p:spPr>
      </p:pic>
      <p:sp>
        <p:nvSpPr>
          <p:cNvPr id="9" name="Text 5"/>
          <p:cNvSpPr/>
          <p:nvPr/>
        </p:nvSpPr>
        <p:spPr>
          <a:xfrm>
            <a:off x="1234440"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Flight Information Search</a:t>
            </a:r>
            <a:endParaRPr lang="en-US" sz="1150" dirty="0"/>
          </a:p>
        </p:txBody>
      </p:sp>
      <p:sp>
        <p:nvSpPr>
          <p:cNvPr id="10" name="Shape 6"/>
          <p:cNvSpPr/>
          <p:nvPr/>
        </p:nvSpPr>
        <p:spPr>
          <a:xfrm>
            <a:off x="749808" y="2871216"/>
            <a:ext cx="365760" cy="365760"/>
          </a:xfrm>
          <a:prstGeom prst="ellipse">
            <a:avLst/>
          </a:prstGeom>
          <a:solidFill>
            <a:srgbClr val="DCE3EE"/>
          </a:solidFill>
          <a:ln/>
        </p:spPr>
      </p:sp>
      <p:pic>
        <p:nvPicPr>
          <p:cNvPr id="11" name="Image 2" descr="icons/building_2E86AB.png"/>
          <p:cNvPicPr>
            <a:picLocks noChangeAspect="1"/>
          </p:cNvPicPr>
          <p:nvPr/>
        </p:nvPicPr>
        <p:blipFill>
          <a:blip r:embed="rId5"/>
          <a:stretch>
            <a:fillRect/>
          </a:stretch>
        </p:blipFill>
        <p:spPr>
          <a:xfrm>
            <a:off x="832104" y="2953512"/>
            <a:ext cx="201168" cy="201168"/>
          </a:xfrm>
          <a:prstGeom prst="rect">
            <a:avLst/>
          </a:prstGeom>
        </p:spPr>
      </p:pic>
      <p:sp>
        <p:nvSpPr>
          <p:cNvPr id="12" name="Text 7"/>
          <p:cNvSpPr/>
          <p:nvPr/>
        </p:nvSpPr>
        <p:spPr>
          <a:xfrm>
            <a:off x="1234440"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Airport Information Search</a:t>
            </a:r>
            <a:endParaRPr lang="en-US" sz="1150" dirty="0"/>
          </a:p>
        </p:txBody>
      </p:sp>
      <p:sp>
        <p:nvSpPr>
          <p:cNvPr id="13" name="Shape 8"/>
          <p:cNvSpPr/>
          <p:nvPr/>
        </p:nvSpPr>
        <p:spPr>
          <a:xfrm>
            <a:off x="749808" y="3566160"/>
            <a:ext cx="365760" cy="365760"/>
          </a:xfrm>
          <a:prstGeom prst="ellipse">
            <a:avLst/>
          </a:prstGeom>
          <a:solidFill>
            <a:srgbClr val="DCE3EE"/>
          </a:solidFill>
          <a:ln/>
        </p:spPr>
      </p:sp>
      <p:pic>
        <p:nvPicPr>
          <p:cNvPr id="14" name="Image 3" descr="icons/cogs_2E86AB.png"/>
          <p:cNvPicPr>
            <a:picLocks noChangeAspect="1"/>
          </p:cNvPicPr>
          <p:nvPr/>
        </p:nvPicPr>
        <p:blipFill>
          <a:blip r:embed="rId6"/>
          <a:stretch>
            <a:fillRect/>
          </a:stretch>
        </p:blipFill>
        <p:spPr>
          <a:xfrm>
            <a:off x="832104" y="3648456"/>
            <a:ext cx="201168" cy="201168"/>
          </a:xfrm>
          <a:prstGeom prst="rect">
            <a:avLst/>
          </a:prstGeom>
        </p:spPr>
      </p:pic>
      <p:sp>
        <p:nvSpPr>
          <p:cNvPr id="15" name="Text 9"/>
          <p:cNvSpPr/>
          <p:nvPr/>
        </p:nvSpPr>
        <p:spPr>
          <a:xfrm>
            <a:off x="1234440"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Aircraft Information Management</a:t>
            </a:r>
            <a:endParaRPr lang="en-US" sz="1150" dirty="0"/>
          </a:p>
        </p:txBody>
      </p:sp>
      <p:sp>
        <p:nvSpPr>
          <p:cNvPr id="16" name="Shape 10"/>
          <p:cNvSpPr/>
          <p:nvPr/>
        </p:nvSpPr>
        <p:spPr>
          <a:xfrm>
            <a:off x="749808" y="4261104"/>
            <a:ext cx="365760" cy="365760"/>
          </a:xfrm>
          <a:prstGeom prst="ellipse">
            <a:avLst/>
          </a:prstGeom>
          <a:solidFill>
            <a:srgbClr val="DCE3EE"/>
          </a:solidFill>
          <a:ln/>
        </p:spPr>
      </p:sp>
      <p:pic>
        <p:nvPicPr>
          <p:cNvPr id="17" name="Image 4" descr="icons/users_2E86AB.png"/>
          <p:cNvPicPr>
            <a:picLocks noChangeAspect="1"/>
          </p:cNvPicPr>
          <p:nvPr/>
        </p:nvPicPr>
        <p:blipFill>
          <a:blip r:embed="rId7"/>
          <a:stretch>
            <a:fillRect/>
          </a:stretch>
        </p:blipFill>
        <p:spPr>
          <a:xfrm>
            <a:off x="832104" y="4343400"/>
            <a:ext cx="201168" cy="201168"/>
          </a:xfrm>
          <a:prstGeom prst="rect">
            <a:avLst/>
          </a:prstGeom>
        </p:spPr>
      </p:pic>
      <p:sp>
        <p:nvSpPr>
          <p:cNvPr id="18" name="Text 11"/>
          <p:cNvSpPr/>
          <p:nvPr/>
        </p:nvSpPr>
        <p:spPr>
          <a:xfrm>
            <a:off x="1234440"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Passenger Record Search</a:t>
            </a:r>
            <a:endParaRPr lang="en-US" sz="1150" dirty="0"/>
          </a:p>
        </p:txBody>
      </p:sp>
      <p:sp>
        <p:nvSpPr>
          <p:cNvPr id="19" name="Shape 12"/>
          <p:cNvSpPr/>
          <p:nvPr/>
        </p:nvSpPr>
        <p:spPr>
          <a:xfrm>
            <a:off x="749808" y="4956048"/>
            <a:ext cx="365760" cy="365760"/>
          </a:xfrm>
          <a:prstGeom prst="ellipse">
            <a:avLst/>
          </a:prstGeom>
          <a:solidFill>
            <a:srgbClr val="DCE3EE"/>
          </a:solidFill>
          <a:ln/>
        </p:spPr>
      </p:sp>
      <p:pic>
        <p:nvPicPr>
          <p:cNvPr id="20" name="Image 5" descr="icons/usertie_2E86AB.png"/>
          <p:cNvPicPr>
            <a:picLocks noChangeAspect="1"/>
          </p:cNvPicPr>
          <p:nvPr/>
        </p:nvPicPr>
        <p:blipFill>
          <a:blip r:embed="rId8"/>
          <a:stretch>
            <a:fillRect/>
          </a:stretch>
        </p:blipFill>
        <p:spPr>
          <a:xfrm>
            <a:off x="832104" y="5038344"/>
            <a:ext cx="201168" cy="201168"/>
          </a:xfrm>
          <a:prstGeom prst="rect">
            <a:avLst/>
          </a:prstGeom>
        </p:spPr>
      </p:pic>
      <p:sp>
        <p:nvSpPr>
          <p:cNvPr id="21" name="Text 13"/>
          <p:cNvSpPr/>
          <p:nvPr/>
        </p:nvSpPr>
        <p:spPr>
          <a:xfrm>
            <a:off x="1234440"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Crew Information Management</a:t>
            </a:r>
            <a:endParaRPr lang="en-US" sz="1150" dirty="0"/>
          </a:p>
        </p:txBody>
      </p:sp>
      <p:sp>
        <p:nvSpPr>
          <p:cNvPr id="22" name="Shape 14"/>
          <p:cNvSpPr/>
          <p:nvPr/>
        </p:nvSpPr>
        <p:spPr>
          <a:xfrm>
            <a:off x="749808" y="5650992"/>
            <a:ext cx="365760" cy="365760"/>
          </a:xfrm>
          <a:prstGeom prst="ellipse">
            <a:avLst/>
          </a:prstGeom>
          <a:solidFill>
            <a:srgbClr val="DCE3EE"/>
          </a:solidFill>
          <a:ln/>
        </p:spPr>
      </p:sp>
      <p:pic>
        <p:nvPicPr>
          <p:cNvPr id="23" name="Image 6" descr="icons/map_2E86AB.png"/>
          <p:cNvPicPr>
            <a:picLocks noChangeAspect="1"/>
          </p:cNvPicPr>
          <p:nvPr/>
        </p:nvPicPr>
        <p:blipFill>
          <a:blip r:embed="rId9"/>
          <a:stretch>
            <a:fillRect/>
          </a:stretch>
        </p:blipFill>
        <p:spPr>
          <a:xfrm>
            <a:off x="832104" y="5733288"/>
            <a:ext cx="201168" cy="201168"/>
          </a:xfrm>
          <a:prstGeom prst="rect">
            <a:avLst/>
          </a:prstGeom>
        </p:spPr>
      </p:pic>
      <p:sp>
        <p:nvSpPr>
          <p:cNvPr id="24" name="Text 15"/>
          <p:cNvSpPr/>
          <p:nvPr/>
        </p:nvSpPr>
        <p:spPr>
          <a:xfrm>
            <a:off x="1234440"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Gate &amp; Runway Management</a:t>
            </a:r>
            <a:endParaRPr lang="en-US" sz="1150" dirty="0"/>
          </a:p>
        </p:txBody>
      </p:sp>
      <p:sp>
        <p:nvSpPr>
          <p:cNvPr id="25" name="Shape 16"/>
          <p:cNvSpPr/>
          <p:nvPr/>
        </p:nvSpPr>
        <p:spPr>
          <a:xfrm>
            <a:off x="4407408"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26" name="Shape 17"/>
          <p:cNvSpPr/>
          <p:nvPr/>
        </p:nvSpPr>
        <p:spPr>
          <a:xfrm>
            <a:off x="4572000" y="1353312"/>
            <a:ext cx="3310128" cy="566928"/>
          </a:xfrm>
          <a:prstGeom prst="roundRect">
            <a:avLst>
              <a:gd name="adj" fmla="val 16129"/>
            </a:avLst>
          </a:prstGeom>
          <a:solidFill>
            <a:srgbClr val="2E86AB"/>
          </a:solidFill>
          <a:ln/>
        </p:spPr>
      </p:sp>
      <p:pic>
        <p:nvPicPr>
          <p:cNvPr id="27" name="Image 7" descr="icons/search_FFFFFF.png"/>
          <p:cNvPicPr>
            <a:picLocks noChangeAspect="1"/>
          </p:cNvPicPr>
          <p:nvPr/>
        </p:nvPicPr>
        <p:blipFill>
          <a:blip r:embed="rId10"/>
          <a:stretch>
            <a:fillRect/>
          </a:stretch>
        </p:blipFill>
        <p:spPr>
          <a:xfrm>
            <a:off x="4700016" y="1481328"/>
            <a:ext cx="329184" cy="329184"/>
          </a:xfrm>
          <a:prstGeom prst="rect">
            <a:avLst/>
          </a:prstGeom>
        </p:spPr>
      </p:pic>
      <p:sp>
        <p:nvSpPr>
          <p:cNvPr id="28" name="Text 18"/>
          <p:cNvSpPr/>
          <p:nvPr/>
        </p:nvSpPr>
        <p:spPr>
          <a:xfrm>
            <a:off x="5120640"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Intelligent Features</a:t>
            </a:r>
            <a:endParaRPr lang="en-US" sz="1450" dirty="0"/>
          </a:p>
        </p:txBody>
      </p:sp>
      <p:sp>
        <p:nvSpPr>
          <p:cNvPr id="29" name="Shape 19"/>
          <p:cNvSpPr/>
          <p:nvPr/>
        </p:nvSpPr>
        <p:spPr>
          <a:xfrm>
            <a:off x="4608576" y="2176272"/>
            <a:ext cx="365760" cy="365760"/>
          </a:xfrm>
          <a:prstGeom prst="ellipse">
            <a:avLst/>
          </a:prstGeom>
          <a:solidFill>
            <a:srgbClr val="DDEFF6"/>
          </a:solidFill>
          <a:ln/>
        </p:spPr>
      </p:sp>
      <p:pic>
        <p:nvPicPr>
          <p:cNvPr id="30" name="Image 8" descr="icons/search_0B1F3A.png"/>
          <p:cNvPicPr>
            <a:picLocks noChangeAspect="1"/>
          </p:cNvPicPr>
          <p:nvPr/>
        </p:nvPicPr>
        <p:blipFill>
          <a:blip r:embed="rId10"/>
          <a:stretch>
            <a:fillRect/>
          </a:stretch>
        </p:blipFill>
        <p:spPr>
          <a:xfrm>
            <a:off x="4690872" y="2258568"/>
            <a:ext cx="201168" cy="201168"/>
          </a:xfrm>
          <a:prstGeom prst="rect">
            <a:avLst/>
          </a:prstGeom>
        </p:spPr>
      </p:pic>
      <p:sp>
        <p:nvSpPr>
          <p:cNvPr id="31" name="Text 20"/>
          <p:cNvSpPr/>
          <p:nvPr/>
        </p:nvSpPr>
        <p:spPr>
          <a:xfrm>
            <a:off x="5093208"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Fast Flight &amp; Passenger Search</a:t>
            </a:r>
            <a:endParaRPr lang="en-US" sz="1150" dirty="0"/>
          </a:p>
        </p:txBody>
      </p:sp>
      <p:sp>
        <p:nvSpPr>
          <p:cNvPr id="32" name="Shape 21"/>
          <p:cNvSpPr/>
          <p:nvPr/>
        </p:nvSpPr>
        <p:spPr>
          <a:xfrm>
            <a:off x="4608576" y="2871216"/>
            <a:ext cx="365760" cy="365760"/>
          </a:xfrm>
          <a:prstGeom prst="ellipse">
            <a:avLst/>
          </a:prstGeom>
          <a:solidFill>
            <a:srgbClr val="DDEFF6"/>
          </a:solidFill>
          <a:ln/>
        </p:spPr>
      </p:sp>
      <p:pic>
        <p:nvPicPr>
          <p:cNvPr id="33" name="Image 9" descr="icons/route_0B1F3A.png"/>
          <p:cNvPicPr>
            <a:picLocks noChangeAspect="1"/>
          </p:cNvPicPr>
          <p:nvPr/>
        </p:nvPicPr>
        <p:blipFill>
          <a:blip r:embed="rId11"/>
          <a:stretch>
            <a:fillRect/>
          </a:stretch>
        </p:blipFill>
        <p:spPr>
          <a:xfrm>
            <a:off x="4690872" y="2953512"/>
            <a:ext cx="201168" cy="201168"/>
          </a:xfrm>
          <a:prstGeom prst="rect">
            <a:avLst/>
          </a:prstGeom>
        </p:spPr>
      </p:pic>
      <p:sp>
        <p:nvSpPr>
          <p:cNvPr id="34" name="Text 22"/>
          <p:cNvSpPr/>
          <p:nvPr/>
        </p:nvSpPr>
        <p:spPr>
          <a:xfrm>
            <a:off x="5093208"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Route Search &amp; Navigation</a:t>
            </a:r>
            <a:endParaRPr lang="en-US" sz="1150" dirty="0"/>
          </a:p>
        </p:txBody>
      </p:sp>
      <p:sp>
        <p:nvSpPr>
          <p:cNvPr id="35" name="Shape 23"/>
          <p:cNvSpPr/>
          <p:nvPr/>
        </p:nvSpPr>
        <p:spPr>
          <a:xfrm>
            <a:off x="4608576" y="3566160"/>
            <a:ext cx="365760" cy="365760"/>
          </a:xfrm>
          <a:prstGeom prst="ellipse">
            <a:avLst/>
          </a:prstGeom>
          <a:solidFill>
            <a:srgbClr val="DDEFF6"/>
          </a:solidFill>
          <a:ln/>
        </p:spPr>
      </p:sp>
      <p:pic>
        <p:nvPicPr>
          <p:cNvPr id="36" name="Image 10" descr="icons/usertie_0B1F3A.png"/>
          <p:cNvPicPr>
            <a:picLocks noChangeAspect="1"/>
          </p:cNvPicPr>
          <p:nvPr/>
        </p:nvPicPr>
        <p:blipFill>
          <a:blip r:embed="rId8"/>
          <a:stretch>
            <a:fillRect/>
          </a:stretch>
        </p:blipFill>
        <p:spPr>
          <a:xfrm>
            <a:off x="4690872" y="3648456"/>
            <a:ext cx="201168" cy="201168"/>
          </a:xfrm>
          <a:prstGeom prst="rect">
            <a:avLst/>
          </a:prstGeom>
        </p:spPr>
      </p:pic>
      <p:sp>
        <p:nvSpPr>
          <p:cNvPr id="37" name="Text 24"/>
          <p:cNvSpPr/>
          <p:nvPr/>
        </p:nvSpPr>
        <p:spPr>
          <a:xfrm>
            <a:off x="5093208"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Crew Allocation Support</a:t>
            </a:r>
            <a:endParaRPr lang="en-US" sz="1150" dirty="0"/>
          </a:p>
        </p:txBody>
      </p:sp>
      <p:sp>
        <p:nvSpPr>
          <p:cNvPr id="38" name="Shape 25"/>
          <p:cNvSpPr/>
          <p:nvPr/>
        </p:nvSpPr>
        <p:spPr>
          <a:xfrm>
            <a:off x="4608576" y="4261104"/>
            <a:ext cx="365760" cy="365760"/>
          </a:xfrm>
          <a:prstGeom prst="ellipse">
            <a:avLst/>
          </a:prstGeom>
          <a:solidFill>
            <a:srgbClr val="DDEFF6"/>
          </a:solidFill>
          <a:ln/>
        </p:spPr>
      </p:sp>
      <p:pic>
        <p:nvPicPr>
          <p:cNvPr id="39" name="Image 11" descr="icons/map_0B1F3A.png"/>
          <p:cNvPicPr>
            <a:picLocks noChangeAspect="1"/>
          </p:cNvPicPr>
          <p:nvPr/>
        </p:nvPicPr>
        <p:blipFill>
          <a:blip r:embed="rId9"/>
          <a:stretch>
            <a:fillRect/>
          </a:stretch>
        </p:blipFill>
        <p:spPr>
          <a:xfrm>
            <a:off x="4690872" y="4343400"/>
            <a:ext cx="201168" cy="201168"/>
          </a:xfrm>
          <a:prstGeom prst="rect">
            <a:avLst/>
          </a:prstGeom>
        </p:spPr>
      </p:pic>
      <p:sp>
        <p:nvSpPr>
          <p:cNvPr id="40" name="Text 26"/>
          <p:cNvSpPr/>
          <p:nvPr/>
        </p:nvSpPr>
        <p:spPr>
          <a:xfrm>
            <a:off x="5093208"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Gate Assignment Assistance</a:t>
            </a:r>
            <a:endParaRPr lang="en-US" sz="1150" dirty="0"/>
          </a:p>
        </p:txBody>
      </p:sp>
      <p:sp>
        <p:nvSpPr>
          <p:cNvPr id="41" name="Shape 27"/>
          <p:cNvSpPr/>
          <p:nvPr/>
        </p:nvSpPr>
        <p:spPr>
          <a:xfrm>
            <a:off x="4608576" y="4956048"/>
            <a:ext cx="365760" cy="365760"/>
          </a:xfrm>
          <a:prstGeom prst="ellipse">
            <a:avLst/>
          </a:prstGeom>
          <a:solidFill>
            <a:srgbClr val="DDEFF6"/>
          </a:solidFill>
          <a:ln/>
        </p:spPr>
      </p:sp>
      <p:pic>
        <p:nvPicPr>
          <p:cNvPr id="42" name="Image 12" descr="icons/calendar_0B1F3A.png"/>
          <p:cNvPicPr>
            <a:picLocks noChangeAspect="1"/>
          </p:cNvPicPr>
          <p:nvPr/>
        </p:nvPicPr>
        <p:blipFill>
          <a:blip r:embed="rId12"/>
          <a:stretch>
            <a:fillRect/>
          </a:stretch>
        </p:blipFill>
        <p:spPr>
          <a:xfrm>
            <a:off x="4690872" y="5038344"/>
            <a:ext cx="201168" cy="201168"/>
          </a:xfrm>
          <a:prstGeom prst="rect">
            <a:avLst/>
          </a:prstGeom>
        </p:spPr>
      </p:pic>
      <p:sp>
        <p:nvSpPr>
          <p:cNvPr id="43" name="Text 28"/>
          <p:cNvSpPr/>
          <p:nvPr/>
        </p:nvSpPr>
        <p:spPr>
          <a:xfrm>
            <a:off x="5093208"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Flight Scheduling Support</a:t>
            </a:r>
            <a:endParaRPr lang="en-US" sz="1150" dirty="0"/>
          </a:p>
        </p:txBody>
      </p:sp>
      <p:sp>
        <p:nvSpPr>
          <p:cNvPr id="44" name="Shape 29"/>
          <p:cNvSpPr/>
          <p:nvPr/>
        </p:nvSpPr>
        <p:spPr>
          <a:xfrm>
            <a:off x="4608576" y="5650992"/>
            <a:ext cx="365760" cy="365760"/>
          </a:xfrm>
          <a:prstGeom prst="ellipse">
            <a:avLst/>
          </a:prstGeom>
          <a:solidFill>
            <a:srgbClr val="DDEFF6"/>
          </a:solidFill>
          <a:ln/>
        </p:spPr>
      </p:sp>
      <p:pic>
        <p:nvPicPr>
          <p:cNvPr id="45" name="Image 13" descr="icons/brain_0B1F3A.png"/>
          <p:cNvPicPr>
            <a:picLocks noChangeAspect="1"/>
          </p:cNvPicPr>
          <p:nvPr/>
        </p:nvPicPr>
        <p:blipFill>
          <a:blip r:embed="rId13"/>
          <a:stretch>
            <a:fillRect/>
          </a:stretch>
        </p:blipFill>
        <p:spPr>
          <a:xfrm>
            <a:off x="4690872" y="5733288"/>
            <a:ext cx="201168" cy="201168"/>
          </a:xfrm>
          <a:prstGeom prst="rect">
            <a:avLst/>
          </a:prstGeom>
        </p:spPr>
      </p:pic>
      <p:sp>
        <p:nvSpPr>
          <p:cNvPr id="46" name="Text 30"/>
          <p:cNvSpPr/>
          <p:nvPr/>
        </p:nvSpPr>
        <p:spPr>
          <a:xfrm>
            <a:off x="5093208"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Operational Decision Support</a:t>
            </a:r>
            <a:endParaRPr lang="en-US" sz="1150" dirty="0"/>
          </a:p>
        </p:txBody>
      </p:sp>
      <p:sp>
        <p:nvSpPr>
          <p:cNvPr id="47" name="Shape 31"/>
          <p:cNvSpPr/>
          <p:nvPr/>
        </p:nvSpPr>
        <p:spPr>
          <a:xfrm>
            <a:off x="8266176"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8" name="Shape 32"/>
          <p:cNvSpPr/>
          <p:nvPr/>
        </p:nvSpPr>
        <p:spPr>
          <a:xfrm>
            <a:off x="8430768" y="1353312"/>
            <a:ext cx="3310128" cy="566928"/>
          </a:xfrm>
          <a:prstGeom prst="roundRect">
            <a:avLst>
              <a:gd name="adj" fmla="val 16129"/>
            </a:avLst>
          </a:prstGeom>
          <a:solidFill>
            <a:srgbClr val="F2A541"/>
          </a:solidFill>
          <a:ln/>
        </p:spPr>
      </p:sp>
      <p:pic>
        <p:nvPicPr>
          <p:cNvPr id="49" name="Image 14" descr="icons/chart_FFFFFF.png"/>
          <p:cNvPicPr>
            <a:picLocks noChangeAspect="1"/>
          </p:cNvPicPr>
          <p:nvPr/>
        </p:nvPicPr>
        <p:blipFill>
          <a:blip r:embed="rId14"/>
          <a:stretch>
            <a:fillRect/>
          </a:stretch>
        </p:blipFill>
        <p:spPr>
          <a:xfrm>
            <a:off x="8558784" y="1481328"/>
            <a:ext cx="329184" cy="329184"/>
          </a:xfrm>
          <a:prstGeom prst="rect">
            <a:avLst/>
          </a:prstGeom>
        </p:spPr>
      </p:pic>
      <p:sp>
        <p:nvSpPr>
          <p:cNvPr id="50" name="Text 33"/>
          <p:cNvSpPr/>
          <p:nvPr/>
        </p:nvSpPr>
        <p:spPr>
          <a:xfrm>
            <a:off x="8979408"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Future Enhancements</a:t>
            </a:r>
            <a:endParaRPr lang="en-US" sz="1450" dirty="0"/>
          </a:p>
        </p:txBody>
      </p:sp>
      <p:sp>
        <p:nvSpPr>
          <p:cNvPr id="51" name="Shape 34"/>
          <p:cNvSpPr/>
          <p:nvPr/>
        </p:nvSpPr>
        <p:spPr>
          <a:xfrm>
            <a:off x="8467344" y="2176272"/>
            <a:ext cx="365760" cy="365760"/>
          </a:xfrm>
          <a:prstGeom prst="ellipse">
            <a:avLst/>
          </a:prstGeom>
          <a:solidFill>
            <a:srgbClr val="FDECD2"/>
          </a:solidFill>
          <a:ln/>
        </p:spPr>
      </p:sp>
      <p:pic>
        <p:nvPicPr>
          <p:cNvPr id="52" name="Image 15" descr="icons/brain_0B1F3A.png"/>
          <p:cNvPicPr>
            <a:picLocks noChangeAspect="1"/>
          </p:cNvPicPr>
          <p:nvPr/>
        </p:nvPicPr>
        <p:blipFill>
          <a:blip r:embed="rId13"/>
          <a:stretch>
            <a:fillRect/>
          </a:stretch>
        </p:blipFill>
        <p:spPr>
          <a:xfrm>
            <a:off x="8549640" y="2258568"/>
            <a:ext cx="201168" cy="201168"/>
          </a:xfrm>
          <a:prstGeom prst="rect">
            <a:avLst/>
          </a:prstGeom>
        </p:spPr>
      </p:pic>
      <p:sp>
        <p:nvSpPr>
          <p:cNvPr id="53" name="Text 35"/>
          <p:cNvSpPr/>
          <p:nvPr/>
        </p:nvSpPr>
        <p:spPr>
          <a:xfrm>
            <a:off x="8951976"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Intelligent Recommendations</a:t>
            </a:r>
            <a:endParaRPr lang="en-US" sz="1150" dirty="0"/>
          </a:p>
        </p:txBody>
      </p:sp>
      <p:sp>
        <p:nvSpPr>
          <p:cNvPr id="54" name="Shape 36"/>
          <p:cNvSpPr/>
          <p:nvPr/>
        </p:nvSpPr>
        <p:spPr>
          <a:xfrm>
            <a:off x="8467344" y="2871216"/>
            <a:ext cx="365760" cy="365760"/>
          </a:xfrm>
          <a:prstGeom prst="ellipse">
            <a:avLst/>
          </a:prstGeom>
          <a:solidFill>
            <a:srgbClr val="FDECD2"/>
          </a:solidFill>
          <a:ln/>
        </p:spPr>
      </p:sp>
      <p:pic>
        <p:nvPicPr>
          <p:cNvPr id="55" name="Image 16" descr="icons/calendar_0B1F3A.png"/>
          <p:cNvPicPr>
            <a:picLocks noChangeAspect="1"/>
          </p:cNvPicPr>
          <p:nvPr/>
        </p:nvPicPr>
        <p:blipFill>
          <a:blip r:embed="rId12"/>
          <a:stretch>
            <a:fillRect/>
          </a:stretch>
        </p:blipFill>
        <p:spPr>
          <a:xfrm>
            <a:off x="8549640" y="2953512"/>
            <a:ext cx="201168" cy="201168"/>
          </a:xfrm>
          <a:prstGeom prst="rect">
            <a:avLst/>
          </a:prstGeom>
        </p:spPr>
      </p:pic>
      <p:sp>
        <p:nvSpPr>
          <p:cNvPr id="56" name="Text 37"/>
          <p:cNvSpPr/>
          <p:nvPr/>
        </p:nvSpPr>
        <p:spPr>
          <a:xfrm>
            <a:off x="8951976"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Delay-aware Scheduling</a:t>
            </a:r>
            <a:endParaRPr lang="en-US" sz="1150" dirty="0"/>
          </a:p>
        </p:txBody>
      </p:sp>
      <p:sp>
        <p:nvSpPr>
          <p:cNvPr id="57" name="Shape 38"/>
          <p:cNvSpPr/>
          <p:nvPr/>
        </p:nvSpPr>
        <p:spPr>
          <a:xfrm>
            <a:off x="8467344" y="3566160"/>
            <a:ext cx="365760" cy="365760"/>
          </a:xfrm>
          <a:prstGeom prst="ellipse">
            <a:avLst/>
          </a:prstGeom>
          <a:solidFill>
            <a:srgbClr val="FDECD2"/>
          </a:solidFill>
          <a:ln/>
        </p:spPr>
      </p:sp>
      <p:pic>
        <p:nvPicPr>
          <p:cNvPr id="58" name="Image 17" descr="icons/cogs_0B1F3A.png"/>
          <p:cNvPicPr>
            <a:picLocks noChangeAspect="1"/>
          </p:cNvPicPr>
          <p:nvPr/>
        </p:nvPicPr>
        <p:blipFill>
          <a:blip r:embed="rId6"/>
          <a:stretch>
            <a:fillRect/>
          </a:stretch>
        </p:blipFill>
        <p:spPr>
          <a:xfrm>
            <a:off x="8549640" y="3648456"/>
            <a:ext cx="201168" cy="201168"/>
          </a:xfrm>
          <a:prstGeom prst="rect">
            <a:avLst/>
          </a:prstGeom>
        </p:spPr>
      </p:pic>
      <p:sp>
        <p:nvSpPr>
          <p:cNvPr id="59" name="Text 39"/>
          <p:cNvSpPr/>
          <p:nvPr/>
        </p:nvSpPr>
        <p:spPr>
          <a:xfrm>
            <a:off x="8951976"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Resource Allocation Optimization</a:t>
            </a:r>
            <a:endParaRPr lang="en-US" sz="1150" dirty="0"/>
          </a:p>
        </p:txBody>
      </p:sp>
      <p:sp>
        <p:nvSpPr>
          <p:cNvPr id="60" name="Shape 40"/>
          <p:cNvSpPr/>
          <p:nvPr/>
        </p:nvSpPr>
        <p:spPr>
          <a:xfrm>
            <a:off x="8467344" y="4261104"/>
            <a:ext cx="365760" cy="365760"/>
          </a:xfrm>
          <a:prstGeom prst="ellipse">
            <a:avLst/>
          </a:prstGeom>
          <a:solidFill>
            <a:srgbClr val="FDECD2"/>
          </a:solidFill>
          <a:ln/>
        </p:spPr>
      </p:sp>
      <p:pic>
        <p:nvPicPr>
          <p:cNvPr id="61" name="Image 18" descr="icons/search_0B1F3A.png"/>
          <p:cNvPicPr>
            <a:picLocks noChangeAspect="1"/>
          </p:cNvPicPr>
          <p:nvPr/>
        </p:nvPicPr>
        <p:blipFill>
          <a:blip r:embed="rId10"/>
          <a:stretch>
            <a:fillRect/>
          </a:stretch>
        </p:blipFill>
        <p:spPr>
          <a:xfrm>
            <a:off x="8549640" y="4343400"/>
            <a:ext cx="201168" cy="201168"/>
          </a:xfrm>
          <a:prstGeom prst="rect">
            <a:avLst/>
          </a:prstGeom>
        </p:spPr>
      </p:pic>
      <p:sp>
        <p:nvSpPr>
          <p:cNvPr id="62" name="Text 41"/>
          <p:cNvSpPr/>
          <p:nvPr/>
        </p:nvSpPr>
        <p:spPr>
          <a:xfrm>
            <a:off x="8951976"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Pattern-based Search</a:t>
            </a:r>
            <a:endParaRPr lang="en-US" sz="1150" dirty="0"/>
          </a:p>
        </p:txBody>
      </p:sp>
      <p:sp>
        <p:nvSpPr>
          <p:cNvPr id="63" name="Shape 42"/>
          <p:cNvSpPr/>
          <p:nvPr/>
        </p:nvSpPr>
        <p:spPr>
          <a:xfrm>
            <a:off x="8467344" y="4956048"/>
            <a:ext cx="365760" cy="365760"/>
          </a:xfrm>
          <a:prstGeom prst="ellipse">
            <a:avLst/>
          </a:prstGeom>
          <a:solidFill>
            <a:srgbClr val="FDECD2"/>
          </a:solidFill>
          <a:ln/>
        </p:spPr>
      </p:sp>
      <p:pic>
        <p:nvPicPr>
          <p:cNvPr id="64" name="Image 19" descr="icons/exchange_0B1F3A.png"/>
          <p:cNvPicPr>
            <a:picLocks noChangeAspect="1"/>
          </p:cNvPicPr>
          <p:nvPr/>
        </p:nvPicPr>
        <p:blipFill>
          <a:blip r:embed="rId15"/>
          <a:stretch>
            <a:fillRect/>
          </a:stretch>
        </p:blipFill>
        <p:spPr>
          <a:xfrm>
            <a:off x="8549640" y="5038344"/>
            <a:ext cx="201168" cy="201168"/>
          </a:xfrm>
          <a:prstGeom prst="rect">
            <a:avLst/>
          </a:prstGeom>
        </p:spPr>
      </p:pic>
      <p:sp>
        <p:nvSpPr>
          <p:cNvPr id="65" name="Text 43"/>
          <p:cNvSpPr/>
          <p:nvPr/>
        </p:nvSpPr>
        <p:spPr>
          <a:xfrm>
            <a:off x="8951976"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Efficient Matching &amp; Assignment</a:t>
            </a:r>
            <a:endParaRPr lang="en-US" sz="1150" dirty="0"/>
          </a:p>
        </p:txBody>
      </p:sp>
      <p:sp>
        <p:nvSpPr>
          <p:cNvPr id="66" name="Shape 44"/>
          <p:cNvSpPr/>
          <p:nvPr/>
        </p:nvSpPr>
        <p:spPr>
          <a:xfrm>
            <a:off x="8467344" y="5650992"/>
            <a:ext cx="365760" cy="365760"/>
          </a:xfrm>
          <a:prstGeom prst="ellipse">
            <a:avLst/>
          </a:prstGeom>
          <a:solidFill>
            <a:srgbClr val="FDECD2"/>
          </a:solidFill>
          <a:ln/>
        </p:spPr>
      </p:sp>
      <p:pic>
        <p:nvPicPr>
          <p:cNvPr id="67" name="Image 20" descr="icons/chart_0B1F3A.png"/>
          <p:cNvPicPr>
            <a:picLocks noChangeAspect="1"/>
          </p:cNvPicPr>
          <p:nvPr/>
        </p:nvPicPr>
        <p:blipFill>
          <a:blip r:embed="rId14"/>
          <a:stretch>
            <a:fillRect/>
          </a:stretch>
        </p:blipFill>
        <p:spPr>
          <a:xfrm>
            <a:off x="8549640" y="5733288"/>
            <a:ext cx="201168" cy="201168"/>
          </a:xfrm>
          <a:prstGeom prst="rect">
            <a:avLst/>
          </a:prstGeom>
        </p:spPr>
      </p:pic>
      <p:sp>
        <p:nvSpPr>
          <p:cNvPr id="68" name="Text 45"/>
          <p:cNvSpPr/>
          <p:nvPr/>
        </p:nvSpPr>
        <p:spPr>
          <a:xfrm>
            <a:off x="8951976"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Performance Analytics Dashboard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2233"/>
                </a:solidFill>
                <a:latin typeface="Cambria" pitchFamily="34" charset="0"/>
                <a:ea typeface="Cambria" pitchFamily="34" charset="-122"/>
                <a:cs typeface="Cambria" pitchFamily="34" charset="-120"/>
              </a:rPr>
              <a:t>Tools &amp; Technologies</a:t>
            </a:r>
            <a:endParaRPr lang="en-US" sz="3000" dirty="0"/>
          </a:p>
        </p:txBody>
      </p:sp>
      <p:sp>
        <p:nvSpPr>
          <p:cNvPr id="3" name="Shape 1"/>
          <p:cNvSpPr/>
          <p:nvPr/>
        </p:nvSpPr>
        <p:spPr>
          <a:xfrm>
            <a:off x="548640"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 name="Shape 2"/>
          <p:cNvSpPr/>
          <p:nvPr/>
        </p:nvSpPr>
        <p:spPr>
          <a:xfrm>
            <a:off x="822960" y="1508760"/>
            <a:ext cx="640080" cy="640080"/>
          </a:xfrm>
          <a:prstGeom prst="ellipse">
            <a:avLst/>
          </a:prstGeom>
          <a:solidFill>
            <a:srgbClr val="0B1F3A"/>
          </a:solidFill>
          <a:ln/>
        </p:spPr>
      </p:sp>
      <p:pic>
        <p:nvPicPr>
          <p:cNvPr id="5" name="Image 0" descr="icons/code_FFFFFF.png"/>
          <p:cNvPicPr>
            <a:picLocks noChangeAspect="1"/>
          </p:cNvPicPr>
          <p:nvPr/>
        </p:nvPicPr>
        <p:blipFill>
          <a:blip r:embed="rId3"/>
          <a:stretch>
            <a:fillRect/>
          </a:stretch>
        </p:blipFill>
        <p:spPr>
          <a:xfrm>
            <a:off x="960120" y="1645920"/>
            <a:ext cx="365760" cy="365760"/>
          </a:xfrm>
          <a:prstGeom prst="rect">
            <a:avLst/>
          </a:prstGeom>
        </p:spPr>
      </p:pic>
      <p:sp>
        <p:nvSpPr>
          <p:cNvPr id="6" name="Text 3"/>
          <p:cNvSpPr/>
          <p:nvPr/>
        </p:nvSpPr>
        <p:spPr>
          <a:xfrm>
            <a:off x="822960"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Programming Language</a:t>
            </a:r>
            <a:endParaRPr lang="en-US" sz="1450" dirty="0"/>
          </a:p>
        </p:txBody>
      </p:sp>
      <p:sp>
        <p:nvSpPr>
          <p:cNvPr id="7" name="Text 4"/>
          <p:cNvSpPr/>
          <p:nvPr/>
        </p:nvSpPr>
        <p:spPr>
          <a:xfrm>
            <a:off x="822960"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Java</a:t>
            </a:r>
            <a:endParaRPr lang="en-US" sz="1200" dirty="0"/>
          </a:p>
        </p:txBody>
      </p:sp>
      <p:sp>
        <p:nvSpPr>
          <p:cNvPr id="8" name="Shape 5"/>
          <p:cNvSpPr/>
          <p:nvPr/>
        </p:nvSpPr>
        <p:spPr>
          <a:xfrm>
            <a:off x="4279392"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9" name="Shape 6"/>
          <p:cNvSpPr/>
          <p:nvPr/>
        </p:nvSpPr>
        <p:spPr>
          <a:xfrm>
            <a:off x="4553712" y="1508760"/>
            <a:ext cx="640080" cy="640080"/>
          </a:xfrm>
          <a:prstGeom prst="ellipse">
            <a:avLst/>
          </a:prstGeom>
          <a:solidFill>
            <a:srgbClr val="2E86AB"/>
          </a:solidFill>
          <a:ln/>
        </p:spPr>
      </p:sp>
      <p:pic>
        <p:nvPicPr>
          <p:cNvPr id="10" name="Image 1" descr="icons/brain_FFFFFF.png"/>
          <p:cNvPicPr>
            <a:picLocks noChangeAspect="1"/>
          </p:cNvPicPr>
          <p:nvPr/>
        </p:nvPicPr>
        <p:blipFill>
          <a:blip r:embed="rId4"/>
          <a:stretch>
            <a:fillRect/>
          </a:stretch>
        </p:blipFill>
        <p:spPr>
          <a:xfrm>
            <a:off x="4690872" y="1645920"/>
            <a:ext cx="365760" cy="365760"/>
          </a:xfrm>
          <a:prstGeom prst="rect">
            <a:avLst/>
          </a:prstGeom>
        </p:spPr>
      </p:pic>
      <p:sp>
        <p:nvSpPr>
          <p:cNvPr id="11" name="Text 7"/>
          <p:cNvSpPr/>
          <p:nvPr/>
        </p:nvSpPr>
        <p:spPr>
          <a:xfrm>
            <a:off x="4553712"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Concepts</a:t>
            </a:r>
            <a:endParaRPr lang="en-US" sz="1450" dirty="0"/>
          </a:p>
        </p:txBody>
      </p:sp>
      <p:sp>
        <p:nvSpPr>
          <p:cNvPr id="12" name="Text 8"/>
          <p:cNvSpPr/>
          <p:nvPr/>
        </p:nvSpPr>
        <p:spPr>
          <a:xfrm>
            <a:off x="4553712"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Advanced Data Structures</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Advanced Algorithms</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Object-Oriented Programming</a:t>
            </a:r>
            <a:endParaRPr lang="en-US" sz="1200" dirty="0"/>
          </a:p>
        </p:txBody>
      </p:sp>
      <p:sp>
        <p:nvSpPr>
          <p:cNvPr id="13" name="Shape 9"/>
          <p:cNvSpPr/>
          <p:nvPr/>
        </p:nvSpPr>
        <p:spPr>
          <a:xfrm>
            <a:off x="8010144"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4" name="Shape 10"/>
          <p:cNvSpPr/>
          <p:nvPr/>
        </p:nvSpPr>
        <p:spPr>
          <a:xfrm>
            <a:off x="8284464" y="1508760"/>
            <a:ext cx="640080" cy="640080"/>
          </a:xfrm>
          <a:prstGeom prst="ellipse">
            <a:avLst/>
          </a:prstGeom>
          <a:solidFill>
            <a:srgbClr val="F2A541"/>
          </a:solidFill>
          <a:ln/>
        </p:spPr>
      </p:sp>
      <p:pic>
        <p:nvPicPr>
          <p:cNvPr id="15" name="Image 2" descr="icons/database_FFFFFF.png"/>
          <p:cNvPicPr>
            <a:picLocks noChangeAspect="1"/>
          </p:cNvPicPr>
          <p:nvPr/>
        </p:nvPicPr>
        <p:blipFill>
          <a:blip r:embed="rId5"/>
          <a:stretch>
            <a:fillRect/>
          </a:stretch>
        </p:blipFill>
        <p:spPr>
          <a:xfrm>
            <a:off x="8421624" y="1645920"/>
            <a:ext cx="365760" cy="365760"/>
          </a:xfrm>
          <a:prstGeom prst="rect">
            <a:avLst/>
          </a:prstGeom>
        </p:spPr>
      </p:pic>
      <p:sp>
        <p:nvSpPr>
          <p:cNvPr id="16" name="Text 11"/>
          <p:cNvSpPr/>
          <p:nvPr/>
        </p:nvSpPr>
        <p:spPr>
          <a:xfrm>
            <a:off x="8284464"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Data Storage</a:t>
            </a:r>
            <a:endParaRPr lang="en-US" sz="1450" dirty="0"/>
          </a:p>
        </p:txBody>
      </p:sp>
      <p:sp>
        <p:nvSpPr>
          <p:cNvPr id="17" name="Text 12"/>
          <p:cNvSpPr/>
          <p:nvPr/>
        </p:nvSpPr>
        <p:spPr>
          <a:xfrm>
            <a:off x="8284464"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Text Files (Initial Phase)</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Collections Framework</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Database considered in future</a:t>
            </a:r>
            <a:endParaRPr lang="en-US" sz="1200" dirty="0"/>
          </a:p>
        </p:txBody>
      </p:sp>
      <p:sp>
        <p:nvSpPr>
          <p:cNvPr id="18" name="Shape 13"/>
          <p:cNvSpPr/>
          <p:nvPr/>
        </p:nvSpPr>
        <p:spPr>
          <a:xfrm>
            <a:off x="2414016" y="406908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9" name="Shape 14"/>
          <p:cNvSpPr/>
          <p:nvPr/>
        </p:nvSpPr>
        <p:spPr>
          <a:xfrm>
            <a:off x="2688336" y="4343400"/>
            <a:ext cx="640080" cy="640080"/>
          </a:xfrm>
          <a:prstGeom prst="ellipse">
            <a:avLst/>
          </a:prstGeom>
          <a:solidFill>
            <a:srgbClr val="2E86AB"/>
          </a:solidFill>
          <a:ln/>
        </p:spPr>
      </p:sp>
      <p:pic>
        <p:nvPicPr>
          <p:cNvPr id="20" name="Image 3" descr="icons/laptop_FFFFFF.png"/>
          <p:cNvPicPr>
            <a:picLocks noChangeAspect="1"/>
          </p:cNvPicPr>
          <p:nvPr/>
        </p:nvPicPr>
        <p:blipFill>
          <a:blip r:embed="rId6"/>
          <a:stretch>
            <a:fillRect/>
          </a:stretch>
        </p:blipFill>
        <p:spPr>
          <a:xfrm>
            <a:off x="2825496" y="4480560"/>
            <a:ext cx="365760" cy="365760"/>
          </a:xfrm>
          <a:prstGeom prst="rect">
            <a:avLst/>
          </a:prstGeom>
        </p:spPr>
      </p:pic>
      <p:sp>
        <p:nvSpPr>
          <p:cNvPr id="21" name="Text 15"/>
          <p:cNvSpPr/>
          <p:nvPr/>
        </p:nvSpPr>
        <p:spPr>
          <a:xfrm>
            <a:off x="2688336" y="509320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Development Environment</a:t>
            </a:r>
            <a:endParaRPr lang="en-US" sz="1450" dirty="0"/>
          </a:p>
        </p:txBody>
      </p:sp>
      <p:sp>
        <p:nvSpPr>
          <p:cNvPr id="22" name="Text 16"/>
          <p:cNvSpPr/>
          <p:nvPr/>
        </p:nvSpPr>
        <p:spPr>
          <a:xfrm>
            <a:off x="2688336" y="553212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IntelliJ IDEA</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Eclipse</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VS Code</a:t>
            </a:r>
            <a:endParaRPr lang="en-US" sz="1200" dirty="0"/>
          </a:p>
        </p:txBody>
      </p:sp>
      <p:sp>
        <p:nvSpPr>
          <p:cNvPr id="23" name="Shape 17"/>
          <p:cNvSpPr/>
          <p:nvPr/>
        </p:nvSpPr>
        <p:spPr>
          <a:xfrm>
            <a:off x="6144768" y="406908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24" name="Shape 18"/>
          <p:cNvSpPr/>
          <p:nvPr/>
        </p:nvSpPr>
        <p:spPr>
          <a:xfrm>
            <a:off x="6419088" y="4343400"/>
            <a:ext cx="640080" cy="640080"/>
          </a:xfrm>
          <a:prstGeom prst="ellipse">
            <a:avLst/>
          </a:prstGeom>
          <a:solidFill>
            <a:srgbClr val="0B1F3A"/>
          </a:solidFill>
          <a:ln/>
        </p:spPr>
      </p:sp>
      <p:pic>
        <p:nvPicPr>
          <p:cNvPr id="25" name="Image 4" descr="icons/git_FFFFFF.png"/>
          <p:cNvPicPr>
            <a:picLocks noChangeAspect="1"/>
          </p:cNvPicPr>
          <p:nvPr/>
        </p:nvPicPr>
        <p:blipFill>
          <a:blip r:embed="rId7"/>
          <a:stretch>
            <a:fillRect/>
          </a:stretch>
        </p:blipFill>
        <p:spPr>
          <a:xfrm>
            <a:off x="6556248" y="4480560"/>
            <a:ext cx="365760" cy="365760"/>
          </a:xfrm>
          <a:prstGeom prst="rect">
            <a:avLst/>
          </a:prstGeom>
        </p:spPr>
      </p:pic>
      <p:sp>
        <p:nvSpPr>
          <p:cNvPr id="26" name="Text 19"/>
          <p:cNvSpPr/>
          <p:nvPr/>
        </p:nvSpPr>
        <p:spPr>
          <a:xfrm>
            <a:off x="6419088" y="509320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Version Control</a:t>
            </a:r>
            <a:endParaRPr lang="en-US" sz="1450" dirty="0"/>
          </a:p>
        </p:txBody>
      </p:sp>
      <p:sp>
        <p:nvSpPr>
          <p:cNvPr id="27" name="Text 20"/>
          <p:cNvSpPr/>
          <p:nvPr/>
        </p:nvSpPr>
        <p:spPr>
          <a:xfrm>
            <a:off x="6419088" y="553212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Git</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GitHub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a:effectLst/>
      </p:bgPr>
    </p:bg>
    <p:spTree>
      <p:nvGrpSpPr>
        <p:cNvPr id="1" name=""/>
        <p:cNvGrpSpPr/>
        <p:nvPr/>
      </p:nvGrpSpPr>
      <p:grpSpPr>
        <a:xfrm>
          <a:off x="0" y="0"/>
          <a:ext cx="0" cy="0"/>
          <a:chOff x="0" y="0"/>
          <a:chExt cx="0" cy="0"/>
        </a:xfrm>
      </p:grpSpPr>
      <p:sp>
        <p:nvSpPr>
          <p:cNvPr id="5" name="Text 3"/>
          <p:cNvSpPr/>
          <p:nvPr/>
        </p:nvSpPr>
        <p:spPr>
          <a:xfrm>
            <a:off x="640080" y="502920"/>
            <a:ext cx="9144000" cy="5943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a:t>
            </a:r>
            <a:endParaRPr lang="en-US" sz="3200" dirty="0"/>
          </a:p>
        </p:txBody>
      </p:sp>
      <p:sp>
        <p:nvSpPr>
          <p:cNvPr id="6" name="Text 4"/>
          <p:cNvSpPr/>
          <p:nvPr/>
        </p:nvSpPr>
        <p:spPr>
          <a:xfrm>
            <a:off x="640080" y="1097280"/>
            <a:ext cx="8229600" cy="365760"/>
          </a:xfrm>
          <a:prstGeom prst="rect">
            <a:avLst/>
          </a:prstGeom>
          <a:noFill/>
          <a:ln/>
        </p:spPr>
        <p:txBody>
          <a:bodyPr wrap="square" rtlCol="0" anchor="ctr"/>
          <a:lstStyle/>
          <a:p>
            <a:pPr marL="0" indent="0">
              <a:buNone/>
            </a:pPr>
            <a:r>
              <a:rPr lang="en-US" sz="1350" i="1" dirty="0">
                <a:solidFill>
                  <a:srgbClr val="F2A541"/>
                </a:solidFill>
                <a:latin typeface="Calibri" pitchFamily="34" charset="0"/>
                <a:ea typeface="Calibri" pitchFamily="34" charset="-122"/>
                <a:cs typeface="Calibri" pitchFamily="34" charset="-120"/>
              </a:rPr>
              <a:t>What AeroSync will deliver by the end of the course</a:t>
            </a:r>
            <a:endParaRPr lang="en-US" sz="1350" dirty="0"/>
          </a:p>
        </p:txBody>
      </p:sp>
      <p:sp>
        <p:nvSpPr>
          <p:cNvPr id="7" name="Shape 5"/>
          <p:cNvSpPr/>
          <p:nvPr/>
        </p:nvSpPr>
        <p:spPr>
          <a:xfrm>
            <a:off x="640080" y="1801368"/>
            <a:ext cx="365760" cy="365760"/>
          </a:xfrm>
          <a:prstGeom prst="ellipse">
            <a:avLst/>
          </a:prstGeom>
          <a:solidFill>
            <a:srgbClr val="2E86AB"/>
          </a:solidFill>
          <a:ln/>
        </p:spPr>
      </p:sp>
      <p:pic>
        <p:nvPicPr>
          <p:cNvPr id="8" name="Image 0" descr="icons/check_FFFFFF.png"/>
          <p:cNvPicPr>
            <a:picLocks noChangeAspect="1"/>
          </p:cNvPicPr>
          <p:nvPr/>
        </p:nvPicPr>
        <p:blipFill>
          <a:blip r:embed="rId3"/>
          <a:stretch>
            <a:fillRect/>
          </a:stretch>
        </p:blipFill>
        <p:spPr>
          <a:xfrm>
            <a:off x="722376" y="1883664"/>
            <a:ext cx="201168" cy="201168"/>
          </a:xfrm>
          <a:prstGeom prst="rect">
            <a:avLst/>
          </a:prstGeom>
        </p:spPr>
      </p:pic>
      <p:sp>
        <p:nvSpPr>
          <p:cNvPr id="9" name="Text 6"/>
          <p:cNvSpPr/>
          <p:nvPr/>
        </p:nvSpPr>
        <p:spPr>
          <a:xfrm>
            <a:off x="1188720" y="1755648"/>
            <a:ext cx="10241280" cy="457200"/>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Develop a centralized aviation information management system.</a:t>
            </a:r>
            <a:endParaRPr lang="en-US" sz="1450" dirty="0"/>
          </a:p>
        </p:txBody>
      </p:sp>
      <p:sp>
        <p:nvSpPr>
          <p:cNvPr id="10" name="Shape 7"/>
          <p:cNvSpPr/>
          <p:nvPr/>
        </p:nvSpPr>
        <p:spPr>
          <a:xfrm>
            <a:off x="640080" y="2423160"/>
            <a:ext cx="365760" cy="365760"/>
          </a:xfrm>
          <a:prstGeom prst="ellipse">
            <a:avLst/>
          </a:prstGeom>
          <a:solidFill>
            <a:srgbClr val="2E86AB"/>
          </a:solidFill>
          <a:ln/>
        </p:spPr>
      </p:sp>
      <p:pic>
        <p:nvPicPr>
          <p:cNvPr id="11" name="Image 1" descr="icons/check_FFFFFF.png"/>
          <p:cNvPicPr>
            <a:picLocks noChangeAspect="1"/>
          </p:cNvPicPr>
          <p:nvPr/>
        </p:nvPicPr>
        <p:blipFill>
          <a:blip r:embed="rId3"/>
          <a:stretch>
            <a:fillRect/>
          </a:stretch>
        </p:blipFill>
        <p:spPr>
          <a:xfrm>
            <a:off x="722376" y="2505456"/>
            <a:ext cx="201168" cy="201168"/>
          </a:xfrm>
          <a:prstGeom prst="rect">
            <a:avLst/>
          </a:prstGeom>
        </p:spPr>
      </p:pic>
      <p:sp>
        <p:nvSpPr>
          <p:cNvPr id="12" name="Text 8"/>
          <p:cNvSpPr/>
          <p:nvPr/>
        </p:nvSpPr>
        <p:spPr>
          <a:xfrm>
            <a:off x="1188720" y="2377440"/>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Enable efficient searching of flights, airports, aircraft, crew, and passenger information.</a:t>
            </a:r>
            <a:endParaRPr lang="en-US" sz="1450" dirty="0"/>
          </a:p>
        </p:txBody>
      </p:sp>
      <p:sp>
        <p:nvSpPr>
          <p:cNvPr id="13" name="Shape 9"/>
          <p:cNvSpPr/>
          <p:nvPr/>
        </p:nvSpPr>
        <p:spPr>
          <a:xfrm>
            <a:off x="640080" y="3300984"/>
            <a:ext cx="365760" cy="365760"/>
          </a:xfrm>
          <a:prstGeom prst="ellipse">
            <a:avLst/>
          </a:prstGeom>
          <a:solidFill>
            <a:srgbClr val="2E86AB"/>
          </a:solidFill>
          <a:ln/>
        </p:spPr>
      </p:sp>
      <p:pic>
        <p:nvPicPr>
          <p:cNvPr id="14" name="Image 2" descr="icons/check_FFFFFF.png"/>
          <p:cNvPicPr>
            <a:picLocks noChangeAspect="1"/>
          </p:cNvPicPr>
          <p:nvPr/>
        </p:nvPicPr>
        <p:blipFill>
          <a:blip r:embed="rId3"/>
          <a:stretch>
            <a:fillRect/>
          </a:stretch>
        </p:blipFill>
        <p:spPr>
          <a:xfrm>
            <a:off x="722376" y="3383280"/>
            <a:ext cx="201168" cy="201168"/>
          </a:xfrm>
          <a:prstGeom prst="rect">
            <a:avLst/>
          </a:prstGeom>
        </p:spPr>
      </p:pic>
      <p:sp>
        <p:nvSpPr>
          <p:cNvPr id="15" name="Text 10"/>
          <p:cNvSpPr/>
          <p:nvPr/>
        </p:nvSpPr>
        <p:spPr>
          <a:xfrm>
            <a:off x="1188720" y="3255264"/>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Improve operational decision-making through intelligent search and algorithmic techniques.</a:t>
            </a:r>
            <a:endParaRPr lang="en-US" sz="1450" dirty="0"/>
          </a:p>
        </p:txBody>
      </p:sp>
      <p:sp>
        <p:nvSpPr>
          <p:cNvPr id="16" name="Shape 11"/>
          <p:cNvSpPr/>
          <p:nvPr/>
        </p:nvSpPr>
        <p:spPr>
          <a:xfrm>
            <a:off x="640080" y="4178808"/>
            <a:ext cx="365760" cy="365760"/>
          </a:xfrm>
          <a:prstGeom prst="ellipse">
            <a:avLst/>
          </a:prstGeom>
          <a:solidFill>
            <a:srgbClr val="2E86AB"/>
          </a:solidFill>
          <a:ln/>
        </p:spPr>
      </p:sp>
      <p:pic>
        <p:nvPicPr>
          <p:cNvPr id="17" name="Image 3" descr="icons/check_FFFFFF.png"/>
          <p:cNvPicPr>
            <a:picLocks noChangeAspect="1"/>
          </p:cNvPicPr>
          <p:nvPr/>
        </p:nvPicPr>
        <p:blipFill>
          <a:blip r:embed="rId3"/>
          <a:stretch>
            <a:fillRect/>
          </a:stretch>
        </p:blipFill>
        <p:spPr>
          <a:xfrm>
            <a:off x="722376" y="4261104"/>
            <a:ext cx="201168" cy="201168"/>
          </a:xfrm>
          <a:prstGeom prst="rect">
            <a:avLst/>
          </a:prstGeom>
        </p:spPr>
      </p:pic>
      <p:sp>
        <p:nvSpPr>
          <p:cNvPr id="18" name="Text 12"/>
          <p:cNvSpPr/>
          <p:nvPr/>
        </p:nvSpPr>
        <p:spPr>
          <a:xfrm>
            <a:off x="1188720" y="4133088"/>
            <a:ext cx="10241280" cy="457200"/>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Demonstrate practical applications of advanced Data Structures and Algorithms.</a:t>
            </a:r>
            <a:endParaRPr lang="en-US" sz="1450" dirty="0"/>
          </a:p>
        </p:txBody>
      </p:sp>
      <p:sp>
        <p:nvSpPr>
          <p:cNvPr id="19" name="Shape 13"/>
          <p:cNvSpPr/>
          <p:nvPr/>
        </p:nvSpPr>
        <p:spPr>
          <a:xfrm>
            <a:off x="640080" y="4800600"/>
            <a:ext cx="365760" cy="365760"/>
          </a:xfrm>
          <a:prstGeom prst="ellipse">
            <a:avLst/>
          </a:prstGeom>
          <a:solidFill>
            <a:srgbClr val="2E86AB"/>
          </a:solidFill>
          <a:ln/>
        </p:spPr>
      </p:sp>
      <p:pic>
        <p:nvPicPr>
          <p:cNvPr id="20" name="Image 4" descr="icons/check_FFFFFF.png"/>
          <p:cNvPicPr>
            <a:picLocks noChangeAspect="1"/>
          </p:cNvPicPr>
          <p:nvPr/>
        </p:nvPicPr>
        <p:blipFill>
          <a:blip r:embed="rId3"/>
          <a:stretch>
            <a:fillRect/>
          </a:stretch>
        </p:blipFill>
        <p:spPr>
          <a:xfrm>
            <a:off x="722376" y="4882896"/>
            <a:ext cx="201168" cy="201168"/>
          </a:xfrm>
          <a:prstGeom prst="rect">
            <a:avLst/>
          </a:prstGeom>
        </p:spPr>
      </p:pic>
      <p:sp>
        <p:nvSpPr>
          <p:cNvPr id="21" name="Text 14"/>
          <p:cNvSpPr/>
          <p:nvPr/>
        </p:nvSpPr>
        <p:spPr>
          <a:xfrm>
            <a:off x="1188720" y="4754880"/>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Build a scalable project that can be enhanced with advanced scheduling, matching, and optimization techniques throughout the course.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510</Words>
  <Application>Microsoft Office PowerPoint</Application>
  <PresentationFormat>Widescreen</PresentationFormat>
  <Paragraphs>81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advaitha k</cp:lastModifiedBy>
  <cp:revision>2</cp:revision>
  <dcterms:created xsi:type="dcterms:W3CDTF">2026-08-02T16:31:46Z</dcterms:created>
  <dcterms:modified xsi:type="dcterms:W3CDTF">2026-08-13T09:38:06Z</dcterms:modified>
</cp:coreProperties>
</file>