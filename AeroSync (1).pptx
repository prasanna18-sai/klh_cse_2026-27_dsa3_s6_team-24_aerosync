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2587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9.png"/><Relationship Id="rId3" Type="http://schemas.openxmlformats.org/officeDocument/2006/relationships/image" Target="../media/image10.png"/><Relationship Id="rId7" Type="http://schemas.openxmlformats.org/officeDocument/2006/relationships/image" Target="../media/image4.png"/><Relationship Id="rId12"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3.png"/><Relationship Id="rId5" Type="http://schemas.openxmlformats.org/officeDocument/2006/relationships/image" Target="../media/image3.png"/><Relationship Id="rId15" Type="http://schemas.openxmlformats.org/officeDocument/2006/relationships/image" Target="../media/image6.png"/><Relationship Id="rId10" Type="http://schemas.openxmlformats.org/officeDocument/2006/relationships/image" Target="../media/image8.png"/><Relationship Id="rId4" Type="http://schemas.openxmlformats.org/officeDocument/2006/relationships/image" Target="../media/image1.png"/><Relationship Id="rId9" Type="http://schemas.openxmlformats.org/officeDocument/2006/relationships/image" Target="../media/image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7.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9695688" y="411480"/>
            <a:ext cx="2926080" cy="2926080"/>
          </a:xfrm>
          <a:prstGeom prst="ellipse">
            <a:avLst/>
          </a:prstGeom>
          <a:ln w="12700">
            <a:solidFill>
              <a:srgbClr val="2E86AB">
                <a:alpha val="45000"/>
              </a:srgbClr>
            </a:solidFill>
            <a:prstDash val="solid"/>
          </a:ln>
        </p:spPr>
        <p:txBody>
          <a:bodyPr/>
          <a:lstStyle/>
          <a:p>
            <a:endParaRPr lang="en-IN" dirty="0"/>
          </a:p>
        </p:txBody>
      </p:sp>
      <p:sp>
        <p:nvSpPr>
          <p:cNvPr id="3" name="Shape 1"/>
          <p:cNvSpPr/>
          <p:nvPr/>
        </p:nvSpPr>
        <p:spPr>
          <a:xfrm>
            <a:off x="9125712" y="-45720"/>
            <a:ext cx="3931920" cy="3931920"/>
          </a:xfrm>
          <a:prstGeom prst="ellipse">
            <a:avLst/>
          </a:prstGeom>
          <a:ln w="12700">
            <a:solidFill>
              <a:srgbClr val="2E86AB">
                <a:alpha val="45000"/>
              </a:srgbClr>
            </a:solidFill>
            <a:prstDash val="solid"/>
          </a:ln>
        </p:spPr>
      </p:sp>
      <p:sp>
        <p:nvSpPr>
          <p:cNvPr id="4" name="Shape 2"/>
          <p:cNvSpPr/>
          <p:nvPr/>
        </p:nvSpPr>
        <p:spPr>
          <a:xfrm>
            <a:off x="8622792" y="-548640"/>
            <a:ext cx="4937760" cy="4937760"/>
          </a:xfrm>
          <a:prstGeom prst="ellipse">
            <a:avLst/>
          </a:prstGeom>
          <a:ln w="12700">
            <a:solidFill>
              <a:srgbClr val="2E86AB">
                <a:alpha val="45000"/>
              </a:srgbClr>
            </a:solidFill>
            <a:prstDash val="solid"/>
          </a:ln>
        </p:spPr>
      </p:sp>
      <p:sp>
        <p:nvSpPr>
          <p:cNvPr id="5" name="Shape 3"/>
          <p:cNvSpPr/>
          <p:nvPr/>
        </p:nvSpPr>
        <p:spPr>
          <a:xfrm>
            <a:off x="8119872" y="-1051560"/>
            <a:ext cx="5943600" cy="5943600"/>
          </a:xfrm>
          <a:prstGeom prst="ellipse">
            <a:avLst/>
          </a:prstGeom>
          <a:ln w="12700">
            <a:solidFill>
              <a:srgbClr val="2E86AB">
                <a:alpha val="45000"/>
              </a:srgbClr>
            </a:solidFill>
            <a:prstDash val="solid"/>
          </a:ln>
        </p:spPr>
      </p:sp>
      <p:sp>
        <p:nvSpPr>
          <p:cNvPr id="6" name="Shape 4"/>
          <p:cNvSpPr/>
          <p:nvPr/>
        </p:nvSpPr>
        <p:spPr>
          <a:xfrm>
            <a:off x="822960" y="685800"/>
            <a:ext cx="1005840" cy="1005840"/>
          </a:xfrm>
          <a:prstGeom prst="ellipse">
            <a:avLst/>
          </a:prstGeom>
          <a:solidFill>
            <a:srgbClr val="2E86AB"/>
          </a:solidFill>
          <a:ln/>
        </p:spPr>
      </p:sp>
      <p:pic>
        <p:nvPicPr>
          <p:cNvPr id="7" name="Image 0" descr="icons/plane_FFFFFF.png"/>
          <p:cNvPicPr>
            <a:picLocks noChangeAspect="1"/>
          </p:cNvPicPr>
          <p:nvPr/>
        </p:nvPicPr>
        <p:blipFill>
          <a:blip r:embed="rId3"/>
          <a:stretch>
            <a:fillRect/>
          </a:stretch>
        </p:blipFill>
        <p:spPr>
          <a:xfrm>
            <a:off x="1033272" y="896112"/>
            <a:ext cx="585216" cy="585216"/>
          </a:xfrm>
          <a:prstGeom prst="rect">
            <a:avLst/>
          </a:prstGeom>
        </p:spPr>
      </p:pic>
      <p:sp>
        <p:nvSpPr>
          <p:cNvPr id="8" name="Text 5"/>
          <p:cNvSpPr/>
          <p:nvPr/>
        </p:nvSpPr>
        <p:spPr>
          <a:xfrm>
            <a:off x="822960" y="1965960"/>
            <a:ext cx="9144000" cy="365760"/>
          </a:xfrm>
          <a:prstGeom prst="rect">
            <a:avLst/>
          </a:prstGeom>
          <a:noFill/>
          <a:ln/>
        </p:spPr>
        <p:txBody>
          <a:bodyPr wrap="square"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DSA-3 · ADVANCED DATA STRUCTURES &amp; ALGORITHMS</a:t>
            </a:r>
            <a:endParaRPr lang="en-US" sz="1300" dirty="0"/>
          </a:p>
        </p:txBody>
      </p:sp>
      <p:sp>
        <p:nvSpPr>
          <p:cNvPr id="9" name="Text 6"/>
          <p:cNvSpPr/>
          <p:nvPr/>
        </p:nvSpPr>
        <p:spPr>
          <a:xfrm>
            <a:off x="777240" y="2331720"/>
            <a:ext cx="10515600" cy="1371600"/>
          </a:xfrm>
          <a:prstGeom prst="rect">
            <a:avLst/>
          </a:prstGeom>
          <a:noFill/>
          <a:ln/>
        </p:spPr>
        <p:txBody>
          <a:bodyPr wrap="square"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AeroSync</a:t>
            </a:r>
            <a:endParaRPr lang="en-US" sz="6400" dirty="0"/>
          </a:p>
        </p:txBody>
      </p:sp>
      <p:sp>
        <p:nvSpPr>
          <p:cNvPr id="10" name="Text 7"/>
          <p:cNvSpPr/>
          <p:nvPr/>
        </p:nvSpPr>
        <p:spPr>
          <a:xfrm>
            <a:off x="822960" y="3611880"/>
            <a:ext cx="9601200" cy="548640"/>
          </a:xfrm>
          <a:prstGeom prst="rect">
            <a:avLst/>
          </a:prstGeom>
          <a:noFill/>
          <a:ln/>
        </p:spPr>
        <p:txBody>
          <a:bodyPr wrap="square"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Advanced Aviation Search &amp; Decision Support System</a:t>
            </a:r>
            <a:endParaRPr lang="en-US" sz="2000" dirty="0"/>
          </a:p>
        </p:txBody>
      </p:sp>
      <p:sp>
        <p:nvSpPr>
          <p:cNvPr id="11" name="Shape 8"/>
          <p:cNvSpPr/>
          <p:nvPr/>
        </p:nvSpPr>
        <p:spPr>
          <a:xfrm>
            <a:off x="822960" y="4343400"/>
            <a:ext cx="3840480" cy="0"/>
          </a:xfrm>
          <a:prstGeom prst="line">
            <a:avLst/>
          </a:prstGeom>
          <a:noFill/>
          <a:ln w="19050">
            <a:solidFill>
              <a:srgbClr val="2E86AB"/>
            </a:solidFill>
            <a:prstDash val="solid"/>
          </a:ln>
        </p:spPr>
      </p:sp>
      <p:sp>
        <p:nvSpPr>
          <p:cNvPr id="12" name="Text 9"/>
          <p:cNvSpPr/>
          <p:nvPr/>
        </p:nvSpPr>
        <p:spPr>
          <a:xfrm>
            <a:off x="822960" y="4572000"/>
            <a:ext cx="3657600" cy="320040"/>
          </a:xfrm>
          <a:prstGeom prst="rect">
            <a:avLst/>
          </a:prstGeom>
          <a:noFill/>
          <a:ln/>
        </p:spPr>
        <p:txBody>
          <a:bodyPr wrap="square" rtlCol="0" anchor="ctr"/>
          <a:lstStyle/>
          <a:p>
            <a:pPr marL="0" indent="0">
              <a:buNone/>
            </a:pPr>
            <a:r>
              <a:rPr lang="en-US" sz="1200" b="1" kern="0" spc="150" dirty="0">
                <a:solidFill>
                  <a:srgbClr val="F2A541"/>
                </a:solidFill>
                <a:latin typeface="Calibri" pitchFamily="34" charset="0"/>
                <a:ea typeface="Calibri" pitchFamily="34" charset="-122"/>
                <a:cs typeface="Calibri" pitchFamily="34" charset="-120"/>
              </a:rPr>
              <a:t>TEAM MEMBERS</a:t>
            </a:r>
            <a:endParaRPr lang="en-US" sz="1200" dirty="0"/>
          </a:p>
        </p:txBody>
      </p:sp>
      <p:sp>
        <p:nvSpPr>
          <p:cNvPr id="13" name="Shape 10"/>
          <p:cNvSpPr/>
          <p:nvPr/>
        </p:nvSpPr>
        <p:spPr>
          <a:xfrm>
            <a:off x="822960" y="4937760"/>
            <a:ext cx="2331720" cy="594360"/>
          </a:xfrm>
          <a:prstGeom prst="roundRect">
            <a:avLst>
              <a:gd name="adj" fmla="val 15385"/>
            </a:avLst>
          </a:prstGeom>
          <a:solidFill>
            <a:srgbClr val="081729"/>
          </a:solidFill>
          <a:ln w="9525">
            <a:solidFill>
              <a:srgbClr val="2E86AB"/>
            </a:solidFill>
            <a:prstDash val="solid"/>
          </a:ln>
        </p:spPr>
      </p:sp>
      <p:sp>
        <p:nvSpPr>
          <p:cNvPr id="14" name="Text 11"/>
          <p:cNvSpPr/>
          <p:nvPr/>
        </p:nvSpPr>
        <p:spPr>
          <a:xfrm>
            <a:off x="822960" y="4937760"/>
            <a:ext cx="2331720" cy="594360"/>
          </a:xfrm>
          <a:prstGeom prst="rect">
            <a:avLst/>
          </a:prstGeom>
          <a:noFill/>
          <a:ln/>
        </p:spPr>
        <p:txBody>
          <a:bodyPr wrap="square" rtlCol="0" anchor="ctr"/>
          <a:lstStyle/>
          <a:p>
            <a:pPr marL="0" indent="0" algn="ctr">
              <a:buNone/>
            </a:pPr>
            <a:r>
              <a:rPr lang="en-US" sz="1400" b="1" dirty="0" err="1">
                <a:solidFill>
                  <a:srgbClr val="FFFFFF"/>
                </a:solidFill>
                <a:latin typeface="Calibri" pitchFamily="34" charset="0"/>
                <a:ea typeface="Calibri" pitchFamily="34" charset="-122"/>
                <a:cs typeface="Calibri" pitchFamily="34" charset="-120"/>
              </a:rPr>
              <a:t>S.Harshitha</a:t>
            </a:r>
            <a:endParaRPr lang="en-US" sz="1400" dirty="0"/>
          </a:p>
        </p:txBody>
      </p:sp>
      <p:sp>
        <p:nvSpPr>
          <p:cNvPr id="15" name="Shape 12"/>
          <p:cNvSpPr/>
          <p:nvPr/>
        </p:nvSpPr>
        <p:spPr>
          <a:xfrm>
            <a:off x="3429000" y="4937760"/>
            <a:ext cx="2331720" cy="594360"/>
          </a:xfrm>
          <a:prstGeom prst="roundRect">
            <a:avLst>
              <a:gd name="adj" fmla="val 15385"/>
            </a:avLst>
          </a:prstGeom>
          <a:solidFill>
            <a:srgbClr val="081729"/>
          </a:solidFill>
          <a:ln w="9525">
            <a:solidFill>
              <a:srgbClr val="2E86AB"/>
            </a:solidFill>
            <a:prstDash val="solid"/>
          </a:ln>
        </p:spPr>
      </p:sp>
      <p:sp>
        <p:nvSpPr>
          <p:cNvPr id="16" name="Text 13"/>
          <p:cNvSpPr/>
          <p:nvPr/>
        </p:nvSpPr>
        <p:spPr>
          <a:xfrm>
            <a:off x="3429000" y="4937760"/>
            <a:ext cx="2331720" cy="594360"/>
          </a:xfrm>
          <a:prstGeom prst="rect">
            <a:avLst/>
          </a:prstGeom>
          <a:noFill/>
          <a:ln/>
        </p:spPr>
        <p:txBody>
          <a:bodyPr wrap="square" rtlCol="0" anchor="ctr"/>
          <a:lstStyle/>
          <a:p>
            <a:pPr marL="0" indent="0" algn="ctr">
              <a:buNone/>
            </a:pPr>
            <a:r>
              <a:rPr lang="en-US" sz="1400" b="1" dirty="0" err="1">
                <a:solidFill>
                  <a:srgbClr val="FFFFFF"/>
                </a:solidFill>
                <a:latin typeface="Calibri" pitchFamily="34" charset="0"/>
                <a:ea typeface="Calibri" pitchFamily="34" charset="-122"/>
                <a:cs typeface="Calibri" pitchFamily="34" charset="-120"/>
              </a:rPr>
              <a:t>CH.Prasanna</a:t>
            </a:r>
            <a:endParaRPr lang="en-US" sz="1400" dirty="0"/>
          </a:p>
        </p:txBody>
      </p:sp>
      <p:sp>
        <p:nvSpPr>
          <p:cNvPr id="17" name="Shape 14"/>
          <p:cNvSpPr/>
          <p:nvPr/>
        </p:nvSpPr>
        <p:spPr>
          <a:xfrm>
            <a:off x="6035040" y="4937760"/>
            <a:ext cx="2331720" cy="594360"/>
          </a:xfrm>
          <a:prstGeom prst="roundRect">
            <a:avLst>
              <a:gd name="adj" fmla="val 15385"/>
            </a:avLst>
          </a:prstGeom>
          <a:solidFill>
            <a:srgbClr val="081729"/>
          </a:solidFill>
          <a:ln w="9525">
            <a:solidFill>
              <a:srgbClr val="2E86AB"/>
            </a:solidFill>
            <a:prstDash val="solid"/>
          </a:ln>
        </p:spPr>
      </p:sp>
      <p:sp>
        <p:nvSpPr>
          <p:cNvPr id="18" name="Text 15"/>
          <p:cNvSpPr/>
          <p:nvPr/>
        </p:nvSpPr>
        <p:spPr>
          <a:xfrm>
            <a:off x="6035040" y="4937760"/>
            <a:ext cx="2331720" cy="594360"/>
          </a:xfrm>
          <a:prstGeom prst="rect">
            <a:avLst/>
          </a:prstGeom>
          <a:noFill/>
          <a:ln/>
        </p:spPr>
        <p:txBody>
          <a:bodyPr wrap="square" rtlCol="0" anchor="ctr"/>
          <a:lstStyle/>
          <a:p>
            <a:pPr marL="0" indent="0" algn="ctr">
              <a:buNone/>
            </a:pPr>
            <a:r>
              <a:rPr lang="en-US" sz="1400" b="1" dirty="0" err="1">
                <a:solidFill>
                  <a:srgbClr val="FFFFFF"/>
                </a:solidFill>
                <a:latin typeface="Calibri" pitchFamily="34" charset="0"/>
                <a:ea typeface="Calibri" pitchFamily="34" charset="-122"/>
                <a:cs typeface="Calibri" pitchFamily="34" charset="-120"/>
              </a:rPr>
              <a:t>K.V.A.Advaitha</a:t>
            </a:r>
            <a:endParaRPr lang="en-US" sz="1400" b="1" dirty="0">
              <a:solidFill>
                <a:srgbClr val="FFFFFF"/>
              </a:solidFill>
              <a:latin typeface="Calibri" pitchFamily="34" charset="0"/>
              <a:ea typeface="Calibri" pitchFamily="34" charset="-122"/>
              <a:cs typeface="Calibri" pitchFamily="34" charset="-120"/>
            </a:endParaRPr>
          </a:p>
        </p:txBody>
      </p:sp>
      <p:sp>
        <p:nvSpPr>
          <p:cNvPr id="21" name="Text 18"/>
          <p:cNvSpPr/>
          <p:nvPr/>
        </p:nvSpPr>
        <p:spPr>
          <a:xfrm>
            <a:off x="822960" y="6080760"/>
            <a:ext cx="9144000" cy="365760"/>
          </a:xfrm>
          <a:prstGeom prst="rect">
            <a:avLst/>
          </a:prstGeom>
          <a:noFill/>
          <a:ln/>
        </p:spPr>
        <p:txBody>
          <a:bodyPr wrap="square" rtlCol="0" anchor="ctr"/>
          <a:lstStyle/>
          <a:p>
            <a:pPr marL="0" indent="0">
              <a:buNone/>
            </a:pPr>
            <a:r>
              <a:rPr lang="en-US" sz="1200" dirty="0">
                <a:solidFill>
                  <a:srgbClr val="8FA3C4"/>
                </a:solidFill>
                <a:latin typeface="Calibri" pitchFamily="34" charset="0"/>
                <a:ea typeface="Calibri" pitchFamily="34" charset="-122"/>
                <a:cs typeface="Calibri" pitchFamily="34" charset="-120"/>
              </a:rPr>
              <a:t>Course: DSA-3 (Advanced Data Structures &amp; Algorithms)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0B1F3A"/>
          </a:solidFill>
          <a:ln/>
        </p:spPr>
      </p:sp>
      <p:sp>
        <p:nvSpPr>
          <p:cNvPr id="3" name="Shape 1"/>
          <p:cNvSpPr/>
          <p:nvPr/>
        </p:nvSpPr>
        <p:spPr>
          <a:xfrm>
            <a:off x="1234440" y="914400"/>
            <a:ext cx="1645920" cy="1645920"/>
          </a:xfrm>
          <a:prstGeom prst="ellipse">
            <a:avLst/>
          </a:prstGeom>
          <a:solidFill>
            <a:srgbClr val="2E86AB"/>
          </a:solidFill>
          <a:ln/>
        </p:spPr>
      </p:sp>
      <p:pic>
        <p:nvPicPr>
          <p:cNvPr id="4" name="Image 0" descr="icons/clipboard_FFFFFF.png"/>
          <p:cNvPicPr>
            <a:picLocks noChangeAspect="1"/>
          </p:cNvPicPr>
          <p:nvPr/>
        </p:nvPicPr>
        <p:blipFill>
          <a:blip r:embed="rId3"/>
          <a:stretch>
            <a:fillRect/>
          </a:stretch>
        </p:blipFill>
        <p:spPr>
          <a:xfrm>
            <a:off x="1600200" y="1280160"/>
            <a:ext cx="914400" cy="914400"/>
          </a:xfrm>
          <a:prstGeom prst="rect">
            <a:avLst/>
          </a:prstGeom>
        </p:spPr>
      </p:pic>
      <p:sp>
        <p:nvSpPr>
          <p:cNvPr id="5" name="Text 2"/>
          <p:cNvSpPr/>
          <p:nvPr/>
        </p:nvSpPr>
        <p:spPr>
          <a:xfrm>
            <a:off x="502920" y="2834640"/>
            <a:ext cx="3108960" cy="64008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Abstract</a:t>
            </a:r>
            <a:endParaRPr lang="en-US" sz="3600" dirty="0"/>
          </a:p>
        </p:txBody>
      </p:sp>
      <p:sp>
        <p:nvSpPr>
          <p:cNvPr id="6" name="Text 3"/>
          <p:cNvSpPr/>
          <p:nvPr/>
        </p:nvSpPr>
        <p:spPr>
          <a:xfrm>
            <a:off x="502920" y="3520440"/>
            <a:ext cx="3108960" cy="1280160"/>
          </a:xfrm>
          <a:prstGeom prst="rect">
            <a:avLst/>
          </a:prstGeom>
          <a:noFill/>
          <a:ln/>
        </p:spPr>
        <p:txBody>
          <a:bodyPr wrap="square"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A platform for intelligent, algorithm-driven aviation data management.</a:t>
            </a:r>
            <a:endParaRPr lang="en-US" sz="1300" dirty="0"/>
          </a:p>
        </p:txBody>
      </p:sp>
      <p:pic>
        <p:nvPicPr>
          <p:cNvPr id="7" name="Image 1" descr="icons/plane_F2A541.png"/>
          <p:cNvPicPr>
            <a:picLocks noChangeAspect="1"/>
          </p:cNvPicPr>
          <p:nvPr/>
        </p:nvPicPr>
        <p:blipFill>
          <a:blip r:embed="rId4"/>
          <a:stretch>
            <a:fillRect/>
          </a:stretch>
        </p:blipFill>
        <p:spPr>
          <a:xfrm>
            <a:off x="502920" y="5029200"/>
            <a:ext cx="256032" cy="256032"/>
          </a:xfrm>
          <a:prstGeom prst="rect">
            <a:avLst/>
          </a:prstGeom>
        </p:spPr>
      </p:pic>
      <p:sp>
        <p:nvSpPr>
          <p:cNvPr id="8" name="Text 4"/>
          <p:cNvSpPr/>
          <p:nvPr/>
        </p:nvSpPr>
        <p:spPr>
          <a:xfrm>
            <a:off x="868680" y="4983480"/>
            <a:ext cx="2743200" cy="34747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Flights</a:t>
            </a:r>
            <a:endParaRPr lang="en-US" sz="1250" dirty="0"/>
          </a:p>
        </p:txBody>
      </p:sp>
      <p:pic>
        <p:nvPicPr>
          <p:cNvPr id="9" name="Image 2" descr="icons/building_F2A541.png"/>
          <p:cNvPicPr>
            <a:picLocks noChangeAspect="1"/>
          </p:cNvPicPr>
          <p:nvPr/>
        </p:nvPicPr>
        <p:blipFill>
          <a:blip r:embed="rId5"/>
          <a:stretch>
            <a:fillRect/>
          </a:stretch>
        </p:blipFill>
        <p:spPr>
          <a:xfrm>
            <a:off x="502920" y="5413248"/>
            <a:ext cx="256032" cy="256032"/>
          </a:xfrm>
          <a:prstGeom prst="rect">
            <a:avLst/>
          </a:prstGeom>
        </p:spPr>
      </p:pic>
      <p:sp>
        <p:nvSpPr>
          <p:cNvPr id="10" name="Text 5"/>
          <p:cNvSpPr/>
          <p:nvPr/>
        </p:nvSpPr>
        <p:spPr>
          <a:xfrm>
            <a:off x="868680" y="5367528"/>
            <a:ext cx="2743200" cy="34747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Airports</a:t>
            </a:r>
            <a:endParaRPr lang="en-US" sz="1250" dirty="0"/>
          </a:p>
        </p:txBody>
      </p:sp>
      <p:pic>
        <p:nvPicPr>
          <p:cNvPr id="11" name="Image 3" descr="icons/users_F2A541.png"/>
          <p:cNvPicPr>
            <a:picLocks noChangeAspect="1"/>
          </p:cNvPicPr>
          <p:nvPr/>
        </p:nvPicPr>
        <p:blipFill>
          <a:blip r:embed="rId6"/>
          <a:stretch>
            <a:fillRect/>
          </a:stretch>
        </p:blipFill>
        <p:spPr>
          <a:xfrm>
            <a:off x="502920" y="5797296"/>
            <a:ext cx="256032" cy="256032"/>
          </a:xfrm>
          <a:prstGeom prst="rect">
            <a:avLst/>
          </a:prstGeom>
        </p:spPr>
      </p:pic>
      <p:sp>
        <p:nvSpPr>
          <p:cNvPr id="12" name="Text 6"/>
          <p:cNvSpPr/>
          <p:nvPr/>
        </p:nvSpPr>
        <p:spPr>
          <a:xfrm>
            <a:off x="868680" y="5751576"/>
            <a:ext cx="2743200" cy="34747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Crew &amp; Passengers</a:t>
            </a:r>
            <a:endParaRPr lang="en-US" sz="1250" dirty="0"/>
          </a:p>
        </p:txBody>
      </p:sp>
      <p:pic>
        <p:nvPicPr>
          <p:cNvPr id="13" name="Image 4" descr="icons/map_F2A541.png"/>
          <p:cNvPicPr>
            <a:picLocks noChangeAspect="1"/>
          </p:cNvPicPr>
          <p:nvPr/>
        </p:nvPicPr>
        <p:blipFill>
          <a:blip r:embed="rId7"/>
          <a:stretch>
            <a:fillRect/>
          </a:stretch>
        </p:blipFill>
        <p:spPr>
          <a:xfrm>
            <a:off x="502920" y="6181344"/>
            <a:ext cx="256032" cy="256032"/>
          </a:xfrm>
          <a:prstGeom prst="rect">
            <a:avLst/>
          </a:prstGeom>
        </p:spPr>
      </p:pic>
      <p:sp>
        <p:nvSpPr>
          <p:cNvPr id="14" name="Text 7"/>
          <p:cNvSpPr/>
          <p:nvPr/>
        </p:nvSpPr>
        <p:spPr>
          <a:xfrm>
            <a:off x="868680" y="6135624"/>
            <a:ext cx="2743200" cy="34747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Gates</a:t>
            </a:r>
            <a:endParaRPr lang="en-US" sz="1250" dirty="0"/>
          </a:p>
        </p:txBody>
      </p:sp>
      <p:sp>
        <p:nvSpPr>
          <p:cNvPr id="15" name="Text 8"/>
          <p:cNvSpPr/>
          <p:nvPr/>
        </p:nvSpPr>
        <p:spPr>
          <a:xfrm>
            <a:off x="4572000" y="548640"/>
            <a:ext cx="7040880" cy="457200"/>
          </a:xfrm>
          <a:prstGeom prst="rect">
            <a:avLst/>
          </a:prstGeom>
          <a:noFill/>
          <a:ln/>
        </p:spPr>
        <p:txBody>
          <a:bodyPr wrap="square" rtlCol="0" anchor="ctr"/>
          <a:lstStyle/>
          <a:p>
            <a:pPr marL="0" indent="0">
              <a:buNone/>
            </a:pPr>
            <a:r>
              <a:rPr lang="en-US" sz="2000" b="1" dirty="0">
                <a:solidFill>
                  <a:srgbClr val="1A2233"/>
                </a:solidFill>
                <a:latin typeface="Cambria" pitchFamily="34" charset="0"/>
                <a:ea typeface="Cambria" pitchFamily="34" charset="-122"/>
                <a:cs typeface="Cambria" pitchFamily="34" charset="-120"/>
              </a:rPr>
              <a:t>The Challenge of Aviation Data</a:t>
            </a:r>
            <a:endParaRPr lang="en-US" sz="2000" dirty="0"/>
          </a:p>
        </p:txBody>
      </p:sp>
      <p:sp>
        <p:nvSpPr>
          <p:cNvPr id="16" name="Text 9"/>
          <p:cNvSpPr/>
          <p:nvPr/>
        </p:nvSpPr>
        <p:spPr>
          <a:xfrm>
            <a:off x="4572000" y="1143000"/>
            <a:ext cx="7040880" cy="1737360"/>
          </a:xfrm>
          <a:prstGeom prst="rect">
            <a:avLst/>
          </a:prstGeom>
          <a:noFill/>
          <a:ln/>
        </p:spPr>
        <p:txBody>
          <a:bodyPr wrap="square" rtlCol="0" anchor="ctr"/>
          <a:lstStyle/>
          <a:p>
            <a:pPr marL="0" indent="0" algn="l">
              <a:lnSpc>
                <a:spcPct val="115000"/>
              </a:lnSpc>
              <a:spcAft>
                <a:spcPts val="1400"/>
              </a:spcAft>
              <a:buNone/>
            </a:pPr>
            <a:r>
              <a:rPr lang="en-US" sz="1350" dirty="0">
                <a:solidFill>
                  <a:srgbClr val="1A2233"/>
                </a:solidFill>
                <a:latin typeface="Calibri" pitchFamily="34" charset="0"/>
                <a:ea typeface="Calibri" pitchFamily="34" charset="-122"/>
                <a:cs typeface="Calibri" pitchFamily="34" charset="-120"/>
              </a:rPr>
              <a:t>The aviation industry manages a vast amount of operational data — flight schedules, airport information, aircraft details, crew assignments, passenger records, and gate allocations. Handling this information efficiently is essential for smooth airport operations and timely decision-making.</a:t>
            </a:r>
            <a:endParaRPr lang="en-US" sz="1350" dirty="0"/>
          </a:p>
          <a:p>
            <a:pPr marL="0" indent="0" algn="l">
              <a:lnSpc>
                <a:spcPct val="115000"/>
              </a:lnSpc>
              <a:buNone/>
            </a:pPr>
            <a:r>
              <a:rPr lang="en-US" sz="1350" dirty="0">
                <a:solidFill>
                  <a:srgbClr val="1A2233"/>
                </a:solidFill>
                <a:latin typeface="Calibri" pitchFamily="34" charset="0"/>
                <a:ea typeface="Calibri" pitchFamily="34" charset="-122"/>
                <a:cs typeface="Calibri" pitchFamily="34" charset="-120"/>
              </a:rPr>
              <a:t>Traditional management systems primarily focus on storing and retrieving data, but often provide limited support for intelligent search and operational decision-making.</a:t>
            </a:r>
            <a:endParaRPr lang="en-US" sz="1350" dirty="0"/>
          </a:p>
        </p:txBody>
      </p:sp>
      <p:sp>
        <p:nvSpPr>
          <p:cNvPr id="17" name="Shape 10"/>
          <p:cNvSpPr/>
          <p:nvPr/>
        </p:nvSpPr>
        <p:spPr>
          <a:xfrm>
            <a:off x="4572000" y="3063240"/>
            <a:ext cx="7040880" cy="2834640"/>
          </a:xfrm>
          <a:prstGeom prst="roundRect">
            <a:avLst>
              <a:gd name="adj" fmla="val 3871"/>
            </a:avLst>
          </a:prstGeom>
          <a:solidFill>
            <a:srgbClr val="FFFFFF"/>
          </a:solidFill>
          <a:ln w="12700">
            <a:solidFill>
              <a:srgbClr val="E3E8F0"/>
            </a:solidFill>
            <a:prstDash val="solid"/>
          </a:ln>
          <a:effectLst>
            <a:outerShdw blurRad="101600" dist="38100" dir="5400000" algn="bl" rotWithShape="0">
              <a:srgbClr val="1A2233">
                <a:alpha val="12000"/>
              </a:srgbClr>
            </a:outerShdw>
          </a:effectLst>
        </p:spPr>
      </p:sp>
      <p:sp>
        <p:nvSpPr>
          <p:cNvPr id="18" name="Text 11"/>
          <p:cNvSpPr/>
          <p:nvPr/>
        </p:nvSpPr>
        <p:spPr>
          <a:xfrm>
            <a:off x="4892040" y="3291840"/>
            <a:ext cx="6400800" cy="365760"/>
          </a:xfrm>
          <a:prstGeom prst="rect">
            <a:avLst/>
          </a:prstGeom>
          <a:noFill/>
          <a:ln/>
        </p:spPr>
        <p:txBody>
          <a:bodyPr wrap="square" rtlCol="0" anchor="ctr"/>
          <a:lstStyle/>
          <a:p>
            <a:pPr marL="0" indent="0">
              <a:buNone/>
            </a:pPr>
            <a:r>
              <a:rPr lang="en-US" sz="1500" b="1" dirty="0">
                <a:solidFill>
                  <a:srgbClr val="2E86AB"/>
                </a:solidFill>
                <a:latin typeface="Calibri" pitchFamily="34" charset="0"/>
                <a:ea typeface="Calibri" pitchFamily="34" charset="-122"/>
                <a:cs typeface="Calibri" pitchFamily="34" charset="-120"/>
              </a:rPr>
              <a:t>AeroSync's Approach</a:t>
            </a:r>
            <a:endParaRPr lang="en-US" sz="1500" dirty="0"/>
          </a:p>
        </p:txBody>
      </p:sp>
      <p:sp>
        <p:nvSpPr>
          <p:cNvPr id="19" name="Text 12"/>
          <p:cNvSpPr/>
          <p:nvPr/>
        </p:nvSpPr>
        <p:spPr>
          <a:xfrm>
            <a:off x="4892040" y="3749040"/>
            <a:ext cx="6400800" cy="1051560"/>
          </a:xfrm>
          <a:prstGeom prst="rect">
            <a:avLst/>
          </a:prstGeom>
          <a:noFill/>
          <a:ln/>
        </p:spPr>
        <p:txBody>
          <a:bodyPr wrap="square" rtlCol="0" anchor="ctr"/>
          <a:lstStyle/>
          <a:p>
            <a:pPr marL="0" indent="0">
              <a:lnSpc>
                <a:spcPct val="115000"/>
              </a:lnSpc>
              <a:buNone/>
            </a:pPr>
            <a:r>
              <a:rPr lang="en-US" sz="1300" dirty="0">
                <a:solidFill>
                  <a:srgbClr val="1A2233"/>
                </a:solidFill>
                <a:latin typeface="Calibri" pitchFamily="34" charset="0"/>
                <a:ea typeface="Calibri" pitchFamily="34" charset="-122"/>
                <a:cs typeface="Calibri" pitchFamily="34" charset="-120"/>
              </a:rPr>
              <a:t>AeroSync is an Intelligent Aviation Search and Decision Support System designed to efficiently organize, search, and manage aviation-related information. It integrates advanced data structures and algorithms to support fast information retrieval, intelligent search, resource allocation, scheduling assistance, and decision support.</a:t>
            </a:r>
            <a:endParaRPr lang="en-US" sz="1300" dirty="0"/>
          </a:p>
        </p:txBody>
      </p:sp>
      <p:sp>
        <p:nvSpPr>
          <p:cNvPr id="20" name="Text 13"/>
          <p:cNvSpPr/>
          <p:nvPr/>
        </p:nvSpPr>
        <p:spPr>
          <a:xfrm>
            <a:off x="4892040" y="4892040"/>
            <a:ext cx="6400800" cy="914400"/>
          </a:xfrm>
          <a:prstGeom prst="rect">
            <a:avLst/>
          </a:prstGeom>
          <a:noFill/>
          <a:ln/>
        </p:spPr>
        <p:txBody>
          <a:bodyPr wrap="square" rtlCol="0" anchor="ctr"/>
          <a:lstStyle/>
          <a:p>
            <a:pPr marL="0" indent="0">
              <a:lnSpc>
                <a:spcPct val="115000"/>
              </a:lnSpc>
              <a:buNone/>
            </a:pPr>
            <a:r>
              <a:rPr lang="en-US" sz="1300" i="1" dirty="0">
                <a:solidFill>
                  <a:srgbClr val="5B677A"/>
                </a:solidFill>
                <a:latin typeface="Calibri" pitchFamily="34" charset="0"/>
                <a:ea typeface="Calibri" pitchFamily="34" charset="-122"/>
                <a:cs typeface="Calibri" pitchFamily="34" charset="-120"/>
              </a:rPr>
              <a:t>As the project evolves, advanced algorithmic techniques will be incorporated to improve operational efficiency and demonstrate real-world applications of Advanced Data Structures and Algorithms.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0B1F3A"/>
          </a:solidFill>
          <a:ln/>
        </p:spPr>
      </p:sp>
      <p:pic>
        <p:nvPicPr>
          <p:cNvPr id="3" name="Image 0" descr="icons/exchange_F2A541.png"/>
          <p:cNvPicPr>
            <a:picLocks noChangeAspect="1"/>
          </p:cNvPicPr>
          <p:nvPr/>
        </p:nvPicPr>
        <p:blipFill>
          <a:blip r:embed="rId3"/>
          <a:stretch>
            <a:fillRect/>
          </a:stretch>
        </p:blipFill>
        <p:spPr>
          <a:xfrm>
            <a:off x="713232" y="667512"/>
            <a:ext cx="448056" cy="448056"/>
          </a:xfrm>
          <a:prstGeom prst="rect">
            <a:avLst/>
          </a:prstGeom>
        </p:spPr>
      </p:pic>
      <p:sp>
        <p:nvSpPr>
          <p:cNvPr id="4" name="Text 1"/>
          <p:cNvSpPr/>
          <p:nvPr/>
        </p:nvSpPr>
        <p:spPr>
          <a:xfrm>
            <a:off x="1508760" y="548640"/>
            <a:ext cx="7772400" cy="685800"/>
          </a:xfrm>
          <a:prstGeom prst="rect">
            <a:avLst/>
          </a:prstGeom>
          <a:noFill/>
          <a:ln/>
        </p:spPr>
        <p:txBody>
          <a:bodyPr wrap="square" rtlCol="0" anchor="ctr"/>
          <a:lstStyle/>
          <a:p>
            <a:pPr marL="0" indent="0">
              <a:buNone/>
            </a:pPr>
            <a:r>
              <a:rPr lang="en-US" sz="3200" b="1" dirty="0">
                <a:solidFill>
                  <a:srgbClr val="1A2233"/>
                </a:solidFill>
                <a:latin typeface="Cambria" pitchFamily="34" charset="0"/>
                <a:ea typeface="Cambria" pitchFamily="34" charset="-122"/>
                <a:cs typeface="Cambria" pitchFamily="34" charset="-120"/>
              </a:rPr>
              <a:t>Problem Statement</a:t>
            </a:r>
            <a:endParaRPr lang="en-US" sz="3200" dirty="0"/>
          </a:p>
        </p:txBody>
      </p:sp>
      <p:sp>
        <p:nvSpPr>
          <p:cNvPr id="5" name="Text 2"/>
          <p:cNvSpPr/>
          <p:nvPr/>
        </p:nvSpPr>
        <p:spPr>
          <a:xfrm>
            <a:off x="548640" y="1554480"/>
            <a:ext cx="11064240" cy="1188720"/>
          </a:xfrm>
          <a:prstGeom prst="rect">
            <a:avLst/>
          </a:prstGeom>
          <a:noFill/>
          <a:ln/>
        </p:spPr>
        <p:txBody>
          <a:bodyPr wrap="square" rtlCol="0" anchor="ctr"/>
          <a:lstStyle/>
          <a:p>
            <a:pPr marL="0" indent="0">
              <a:lnSpc>
                <a:spcPct val="120000"/>
              </a:lnSpc>
              <a:buNone/>
            </a:pPr>
            <a:r>
              <a:rPr lang="en-US" sz="1450" dirty="0">
                <a:solidFill>
                  <a:srgbClr val="1A2233"/>
                </a:solidFill>
                <a:latin typeface="Calibri" pitchFamily="34" charset="0"/>
                <a:ea typeface="Calibri" pitchFamily="34" charset="-122"/>
                <a:cs typeface="Calibri" pitchFamily="34" charset="-120"/>
              </a:rPr>
              <a:t>Modern airports and airline operations involve managing large volumes of interconnected information such as flights, airports, aircraft, crew members, passengers, gates, and operational schedules. Retrieving relevant information quickly and making effective operational decisions becomes increasingly challenging as the volume of data grows.</a:t>
            </a:r>
            <a:endParaRPr lang="en-US" sz="1450" dirty="0"/>
          </a:p>
        </p:txBody>
      </p:sp>
      <p:sp>
        <p:nvSpPr>
          <p:cNvPr id="6" name="Text 3"/>
          <p:cNvSpPr/>
          <p:nvPr/>
        </p:nvSpPr>
        <p:spPr>
          <a:xfrm>
            <a:off x="548640" y="2697480"/>
            <a:ext cx="11064240" cy="1188720"/>
          </a:xfrm>
          <a:prstGeom prst="rect">
            <a:avLst/>
          </a:prstGeom>
          <a:noFill/>
          <a:ln/>
        </p:spPr>
        <p:txBody>
          <a:bodyPr wrap="square" rtlCol="0" anchor="ctr"/>
          <a:lstStyle/>
          <a:p>
            <a:pPr marL="0" indent="0">
              <a:lnSpc>
                <a:spcPct val="120000"/>
              </a:lnSpc>
              <a:buNone/>
            </a:pPr>
            <a:r>
              <a:rPr lang="en-US" sz="1450" dirty="0">
                <a:solidFill>
                  <a:srgbClr val="1A2233"/>
                </a:solidFill>
                <a:latin typeface="Calibri" pitchFamily="34" charset="0"/>
                <a:ea typeface="Calibri" pitchFamily="34" charset="-122"/>
                <a:cs typeface="Calibri" pitchFamily="34" charset="-120"/>
              </a:rPr>
              <a:t>Most existing systems focus primarily on data management rather than demonstrating algorithm-driven decision support in an educational environment. There is a need for a system that not only enables efficient search and management of aviation resources, but also provides a platform to apply advanced algorithms for scheduling, matching, optimization, and intelligent decision-making.</a:t>
            </a:r>
            <a:endParaRPr lang="en-US" sz="1450" dirty="0"/>
          </a:p>
        </p:txBody>
      </p:sp>
      <p:sp>
        <p:nvSpPr>
          <p:cNvPr id="7" name="Shape 4"/>
          <p:cNvSpPr/>
          <p:nvPr/>
        </p:nvSpPr>
        <p:spPr>
          <a:xfrm>
            <a:off x="548640" y="4160520"/>
            <a:ext cx="3520440" cy="2148840"/>
          </a:xfrm>
          <a:prstGeom prst="roundRect">
            <a:avLst>
              <a:gd name="adj" fmla="val 5106"/>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8" name="Shape 5"/>
          <p:cNvSpPr/>
          <p:nvPr/>
        </p:nvSpPr>
        <p:spPr>
          <a:xfrm>
            <a:off x="822960" y="4434840"/>
            <a:ext cx="640080" cy="640080"/>
          </a:xfrm>
          <a:prstGeom prst="ellipse">
            <a:avLst/>
          </a:prstGeom>
          <a:solidFill>
            <a:srgbClr val="2E86AB"/>
          </a:solidFill>
          <a:ln/>
        </p:spPr>
      </p:sp>
      <p:pic>
        <p:nvPicPr>
          <p:cNvPr id="9" name="Image 1" descr="icons/database_FFFFFF.png"/>
          <p:cNvPicPr>
            <a:picLocks noChangeAspect="1"/>
          </p:cNvPicPr>
          <p:nvPr/>
        </p:nvPicPr>
        <p:blipFill>
          <a:blip r:embed="rId4"/>
          <a:stretch>
            <a:fillRect/>
          </a:stretch>
        </p:blipFill>
        <p:spPr>
          <a:xfrm>
            <a:off x="960120" y="4572000"/>
            <a:ext cx="365760" cy="365760"/>
          </a:xfrm>
          <a:prstGeom prst="rect">
            <a:avLst/>
          </a:prstGeom>
        </p:spPr>
      </p:pic>
      <p:sp>
        <p:nvSpPr>
          <p:cNvPr id="10" name="Text 6"/>
          <p:cNvSpPr/>
          <p:nvPr/>
        </p:nvSpPr>
        <p:spPr>
          <a:xfrm>
            <a:off x="822960" y="5166360"/>
            <a:ext cx="2971800" cy="411480"/>
          </a:xfrm>
          <a:prstGeom prst="rect">
            <a:avLst/>
          </a:prstGeom>
          <a:noFill/>
          <a:ln/>
        </p:spPr>
        <p:txBody>
          <a:bodyPr wrap="square" rtlCol="0" anchor="ctr"/>
          <a:lstStyle/>
          <a:p>
            <a:pPr marL="0" indent="0">
              <a:buNone/>
            </a:pPr>
            <a:r>
              <a:rPr lang="en-US" sz="1400" b="1" dirty="0">
                <a:solidFill>
                  <a:srgbClr val="1A2233"/>
                </a:solidFill>
                <a:latin typeface="Calibri" pitchFamily="34" charset="0"/>
                <a:ea typeface="Calibri" pitchFamily="34" charset="-122"/>
                <a:cs typeface="Calibri" pitchFamily="34" charset="-120"/>
              </a:rPr>
              <a:t>Growing Data Volume</a:t>
            </a:r>
            <a:endParaRPr lang="en-US" sz="1400" dirty="0"/>
          </a:p>
        </p:txBody>
      </p:sp>
      <p:sp>
        <p:nvSpPr>
          <p:cNvPr id="11" name="Text 7"/>
          <p:cNvSpPr/>
          <p:nvPr/>
        </p:nvSpPr>
        <p:spPr>
          <a:xfrm>
            <a:off x="822960" y="5577840"/>
            <a:ext cx="2971800" cy="640080"/>
          </a:xfrm>
          <a:prstGeom prst="rect">
            <a:avLst/>
          </a:prstGeom>
          <a:noFill/>
          <a:ln/>
        </p:spPr>
        <p:txBody>
          <a:bodyPr wrap="square" rtlCol="0" anchor="ctr"/>
          <a:lstStyle/>
          <a:p>
            <a:pPr marL="0" indent="0">
              <a:lnSpc>
                <a:spcPct val="110000"/>
              </a:lnSpc>
              <a:buNone/>
            </a:pPr>
            <a:r>
              <a:rPr lang="en-US" sz="1100" dirty="0">
                <a:solidFill>
                  <a:srgbClr val="5B677A"/>
                </a:solidFill>
                <a:latin typeface="Calibri" pitchFamily="34" charset="0"/>
                <a:ea typeface="Calibri" pitchFamily="34" charset="-122"/>
                <a:cs typeface="Calibri" pitchFamily="34" charset="-120"/>
              </a:rPr>
              <a:t>Flights, aircraft, crew, and passenger records scale quickly, straining simple retrieval.</a:t>
            </a:r>
            <a:endParaRPr lang="en-US" sz="1100" dirty="0"/>
          </a:p>
        </p:txBody>
      </p:sp>
      <p:sp>
        <p:nvSpPr>
          <p:cNvPr id="12" name="Shape 8"/>
          <p:cNvSpPr/>
          <p:nvPr/>
        </p:nvSpPr>
        <p:spPr>
          <a:xfrm>
            <a:off x="4343400" y="4160520"/>
            <a:ext cx="3520440" cy="2148840"/>
          </a:xfrm>
          <a:prstGeom prst="roundRect">
            <a:avLst>
              <a:gd name="adj" fmla="val 5106"/>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13" name="Shape 9"/>
          <p:cNvSpPr/>
          <p:nvPr/>
        </p:nvSpPr>
        <p:spPr>
          <a:xfrm>
            <a:off x="4617720" y="4434840"/>
            <a:ext cx="640080" cy="640080"/>
          </a:xfrm>
          <a:prstGeom prst="ellipse">
            <a:avLst/>
          </a:prstGeom>
          <a:solidFill>
            <a:srgbClr val="2E86AB"/>
          </a:solidFill>
          <a:ln/>
        </p:spPr>
      </p:sp>
      <p:pic>
        <p:nvPicPr>
          <p:cNvPr id="14" name="Image 2" descr="icons/search_FFFFFF.png"/>
          <p:cNvPicPr>
            <a:picLocks noChangeAspect="1"/>
          </p:cNvPicPr>
          <p:nvPr/>
        </p:nvPicPr>
        <p:blipFill>
          <a:blip r:embed="rId5"/>
          <a:stretch>
            <a:fillRect/>
          </a:stretch>
        </p:blipFill>
        <p:spPr>
          <a:xfrm>
            <a:off x="4754880" y="4572000"/>
            <a:ext cx="365760" cy="365760"/>
          </a:xfrm>
          <a:prstGeom prst="rect">
            <a:avLst/>
          </a:prstGeom>
        </p:spPr>
      </p:pic>
      <p:sp>
        <p:nvSpPr>
          <p:cNvPr id="15" name="Text 10"/>
          <p:cNvSpPr/>
          <p:nvPr/>
        </p:nvSpPr>
        <p:spPr>
          <a:xfrm>
            <a:off x="4617720" y="5166360"/>
            <a:ext cx="2971800" cy="411480"/>
          </a:xfrm>
          <a:prstGeom prst="rect">
            <a:avLst/>
          </a:prstGeom>
          <a:noFill/>
          <a:ln/>
        </p:spPr>
        <p:txBody>
          <a:bodyPr wrap="square" rtlCol="0" anchor="ctr"/>
          <a:lstStyle/>
          <a:p>
            <a:pPr marL="0" indent="0">
              <a:buNone/>
            </a:pPr>
            <a:r>
              <a:rPr lang="en-US" sz="1400" b="1" dirty="0">
                <a:solidFill>
                  <a:srgbClr val="1A2233"/>
                </a:solidFill>
                <a:latin typeface="Calibri" pitchFamily="34" charset="0"/>
                <a:ea typeface="Calibri" pitchFamily="34" charset="-122"/>
                <a:cs typeface="Calibri" pitchFamily="34" charset="-120"/>
              </a:rPr>
              <a:t>Limited Intelligent Search</a:t>
            </a:r>
            <a:endParaRPr lang="en-US" sz="1400" dirty="0"/>
          </a:p>
        </p:txBody>
      </p:sp>
      <p:sp>
        <p:nvSpPr>
          <p:cNvPr id="16" name="Text 11"/>
          <p:cNvSpPr/>
          <p:nvPr/>
        </p:nvSpPr>
        <p:spPr>
          <a:xfrm>
            <a:off x="4617720" y="5577840"/>
            <a:ext cx="2971800" cy="640080"/>
          </a:xfrm>
          <a:prstGeom prst="rect">
            <a:avLst/>
          </a:prstGeom>
          <a:noFill/>
          <a:ln/>
        </p:spPr>
        <p:txBody>
          <a:bodyPr wrap="square" rtlCol="0" anchor="ctr"/>
          <a:lstStyle/>
          <a:p>
            <a:pPr marL="0" indent="0">
              <a:lnSpc>
                <a:spcPct val="110000"/>
              </a:lnSpc>
              <a:buNone/>
            </a:pPr>
            <a:r>
              <a:rPr lang="en-US" sz="1100" dirty="0">
                <a:solidFill>
                  <a:srgbClr val="5B677A"/>
                </a:solidFill>
                <a:latin typeface="Calibri" pitchFamily="34" charset="0"/>
                <a:ea typeface="Calibri" pitchFamily="34" charset="-122"/>
                <a:cs typeface="Calibri" pitchFamily="34" charset="-120"/>
              </a:rPr>
              <a:t>Existing tools store and retrieve data but rarely support smart, algorithm-driven search.</a:t>
            </a:r>
            <a:endParaRPr lang="en-US" sz="1100" dirty="0"/>
          </a:p>
        </p:txBody>
      </p:sp>
      <p:sp>
        <p:nvSpPr>
          <p:cNvPr id="17" name="Shape 12"/>
          <p:cNvSpPr/>
          <p:nvPr/>
        </p:nvSpPr>
        <p:spPr>
          <a:xfrm>
            <a:off x="8138160" y="4160520"/>
            <a:ext cx="3520440" cy="2148840"/>
          </a:xfrm>
          <a:prstGeom prst="roundRect">
            <a:avLst>
              <a:gd name="adj" fmla="val 5106"/>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18" name="Shape 13"/>
          <p:cNvSpPr/>
          <p:nvPr/>
        </p:nvSpPr>
        <p:spPr>
          <a:xfrm>
            <a:off x="8412480" y="4434840"/>
            <a:ext cx="640080" cy="640080"/>
          </a:xfrm>
          <a:prstGeom prst="ellipse">
            <a:avLst/>
          </a:prstGeom>
          <a:solidFill>
            <a:srgbClr val="2E86AB"/>
          </a:solidFill>
          <a:ln/>
        </p:spPr>
      </p:sp>
      <p:pic>
        <p:nvPicPr>
          <p:cNvPr id="19" name="Image 3" descr="icons/brain_FFFFFF.png"/>
          <p:cNvPicPr>
            <a:picLocks noChangeAspect="1"/>
          </p:cNvPicPr>
          <p:nvPr/>
        </p:nvPicPr>
        <p:blipFill>
          <a:blip r:embed="rId6"/>
          <a:stretch>
            <a:fillRect/>
          </a:stretch>
        </p:blipFill>
        <p:spPr>
          <a:xfrm>
            <a:off x="8549640" y="4572000"/>
            <a:ext cx="365760" cy="365760"/>
          </a:xfrm>
          <a:prstGeom prst="rect">
            <a:avLst/>
          </a:prstGeom>
        </p:spPr>
      </p:pic>
      <p:sp>
        <p:nvSpPr>
          <p:cNvPr id="20" name="Text 14"/>
          <p:cNvSpPr/>
          <p:nvPr/>
        </p:nvSpPr>
        <p:spPr>
          <a:xfrm>
            <a:off x="8412480" y="5166360"/>
            <a:ext cx="2971800" cy="411480"/>
          </a:xfrm>
          <a:prstGeom prst="rect">
            <a:avLst/>
          </a:prstGeom>
          <a:noFill/>
          <a:ln/>
        </p:spPr>
        <p:txBody>
          <a:bodyPr wrap="square" rtlCol="0" anchor="ctr"/>
          <a:lstStyle/>
          <a:p>
            <a:pPr marL="0" indent="0">
              <a:buNone/>
            </a:pPr>
            <a:r>
              <a:rPr lang="en-US" sz="1400" b="1" dirty="0">
                <a:solidFill>
                  <a:srgbClr val="1A2233"/>
                </a:solidFill>
                <a:latin typeface="Calibri" pitchFamily="34" charset="0"/>
                <a:ea typeface="Calibri" pitchFamily="34" charset="-122"/>
                <a:cs typeface="Calibri" pitchFamily="34" charset="-120"/>
              </a:rPr>
              <a:t>Weak Decision Support</a:t>
            </a:r>
            <a:endParaRPr lang="en-US" sz="1400" dirty="0"/>
          </a:p>
        </p:txBody>
      </p:sp>
      <p:sp>
        <p:nvSpPr>
          <p:cNvPr id="21" name="Text 15"/>
          <p:cNvSpPr/>
          <p:nvPr/>
        </p:nvSpPr>
        <p:spPr>
          <a:xfrm>
            <a:off x="8412480" y="5577840"/>
            <a:ext cx="2971800" cy="640080"/>
          </a:xfrm>
          <a:prstGeom prst="rect">
            <a:avLst/>
          </a:prstGeom>
          <a:noFill/>
          <a:ln/>
        </p:spPr>
        <p:txBody>
          <a:bodyPr wrap="square" rtlCol="0" anchor="ctr"/>
          <a:lstStyle/>
          <a:p>
            <a:pPr marL="0" indent="0">
              <a:lnSpc>
                <a:spcPct val="110000"/>
              </a:lnSpc>
              <a:buNone/>
            </a:pPr>
            <a:r>
              <a:rPr lang="en-US" sz="1100" dirty="0">
                <a:solidFill>
                  <a:srgbClr val="5B677A"/>
                </a:solidFill>
                <a:latin typeface="Calibri" pitchFamily="34" charset="0"/>
                <a:ea typeface="Calibri" pitchFamily="34" charset="-122"/>
                <a:cs typeface="Calibri" pitchFamily="34" charset="-120"/>
              </a:rPr>
              <a:t>Little emphasis on scheduling, matching, and optimization for real operational decisions.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3000" b="1" dirty="0">
                <a:solidFill>
                  <a:srgbClr val="1A2233"/>
                </a:solidFill>
                <a:latin typeface="Cambria" pitchFamily="34" charset="0"/>
                <a:ea typeface="Cambria" pitchFamily="34" charset="-122"/>
                <a:cs typeface="Cambria" pitchFamily="34" charset="-120"/>
              </a:rPr>
              <a:t>Proposed Functionalities</a:t>
            </a:r>
            <a:endParaRPr lang="en-US" sz="3000" dirty="0"/>
          </a:p>
        </p:txBody>
      </p:sp>
      <p:sp>
        <p:nvSpPr>
          <p:cNvPr id="3" name="Shape 1"/>
          <p:cNvSpPr/>
          <p:nvPr/>
        </p:nvSpPr>
        <p:spPr>
          <a:xfrm>
            <a:off x="548640" y="1188720"/>
            <a:ext cx="3639312" cy="5257800"/>
          </a:xfrm>
          <a:prstGeom prst="roundRect">
            <a:avLst>
              <a:gd name="adj" fmla="val 3015"/>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4" name="Shape 2"/>
          <p:cNvSpPr/>
          <p:nvPr/>
        </p:nvSpPr>
        <p:spPr>
          <a:xfrm>
            <a:off x="713232" y="1353312"/>
            <a:ext cx="3310128" cy="566928"/>
          </a:xfrm>
          <a:prstGeom prst="roundRect">
            <a:avLst>
              <a:gd name="adj" fmla="val 16129"/>
            </a:avLst>
          </a:prstGeom>
          <a:solidFill>
            <a:srgbClr val="0B1F3A"/>
          </a:solidFill>
          <a:ln/>
        </p:spPr>
      </p:sp>
      <p:pic>
        <p:nvPicPr>
          <p:cNvPr id="5" name="Image 0" descr="icons/layers_FFFFFF.png"/>
          <p:cNvPicPr>
            <a:picLocks noChangeAspect="1"/>
          </p:cNvPicPr>
          <p:nvPr/>
        </p:nvPicPr>
        <p:blipFill>
          <a:blip r:embed="rId3"/>
          <a:stretch>
            <a:fillRect/>
          </a:stretch>
        </p:blipFill>
        <p:spPr>
          <a:xfrm>
            <a:off x="841248" y="1481328"/>
            <a:ext cx="329184" cy="329184"/>
          </a:xfrm>
          <a:prstGeom prst="rect">
            <a:avLst/>
          </a:prstGeom>
        </p:spPr>
      </p:pic>
      <p:sp>
        <p:nvSpPr>
          <p:cNvPr id="6" name="Text 3"/>
          <p:cNvSpPr/>
          <p:nvPr/>
        </p:nvSpPr>
        <p:spPr>
          <a:xfrm>
            <a:off x="1261872" y="1353312"/>
            <a:ext cx="2724912" cy="56692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Core Modules</a:t>
            </a:r>
            <a:endParaRPr lang="en-US" sz="1450" dirty="0"/>
          </a:p>
        </p:txBody>
      </p:sp>
      <p:sp>
        <p:nvSpPr>
          <p:cNvPr id="7" name="Shape 4"/>
          <p:cNvSpPr/>
          <p:nvPr/>
        </p:nvSpPr>
        <p:spPr>
          <a:xfrm>
            <a:off x="749808" y="2176272"/>
            <a:ext cx="365760" cy="365760"/>
          </a:xfrm>
          <a:prstGeom prst="ellipse">
            <a:avLst/>
          </a:prstGeom>
          <a:solidFill>
            <a:srgbClr val="DCE3EE"/>
          </a:solidFill>
          <a:ln/>
        </p:spPr>
      </p:sp>
      <p:pic>
        <p:nvPicPr>
          <p:cNvPr id="8" name="Image 1" descr="icons/plane_2E86AB.png"/>
          <p:cNvPicPr>
            <a:picLocks noChangeAspect="1"/>
          </p:cNvPicPr>
          <p:nvPr/>
        </p:nvPicPr>
        <p:blipFill>
          <a:blip r:embed="rId4"/>
          <a:stretch>
            <a:fillRect/>
          </a:stretch>
        </p:blipFill>
        <p:spPr>
          <a:xfrm>
            <a:off x="832104" y="2258568"/>
            <a:ext cx="201168" cy="201168"/>
          </a:xfrm>
          <a:prstGeom prst="rect">
            <a:avLst/>
          </a:prstGeom>
        </p:spPr>
      </p:pic>
      <p:sp>
        <p:nvSpPr>
          <p:cNvPr id="9" name="Text 5"/>
          <p:cNvSpPr/>
          <p:nvPr/>
        </p:nvSpPr>
        <p:spPr>
          <a:xfrm>
            <a:off x="1234440" y="2148840"/>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Flight Information Search</a:t>
            </a:r>
            <a:endParaRPr lang="en-US" sz="1150" dirty="0"/>
          </a:p>
        </p:txBody>
      </p:sp>
      <p:sp>
        <p:nvSpPr>
          <p:cNvPr id="10" name="Shape 6"/>
          <p:cNvSpPr/>
          <p:nvPr/>
        </p:nvSpPr>
        <p:spPr>
          <a:xfrm>
            <a:off x="749808" y="2871216"/>
            <a:ext cx="365760" cy="365760"/>
          </a:xfrm>
          <a:prstGeom prst="ellipse">
            <a:avLst/>
          </a:prstGeom>
          <a:solidFill>
            <a:srgbClr val="DCE3EE"/>
          </a:solidFill>
          <a:ln/>
        </p:spPr>
      </p:sp>
      <p:pic>
        <p:nvPicPr>
          <p:cNvPr id="11" name="Image 2" descr="icons/building_2E86AB.png"/>
          <p:cNvPicPr>
            <a:picLocks noChangeAspect="1"/>
          </p:cNvPicPr>
          <p:nvPr/>
        </p:nvPicPr>
        <p:blipFill>
          <a:blip r:embed="rId5"/>
          <a:stretch>
            <a:fillRect/>
          </a:stretch>
        </p:blipFill>
        <p:spPr>
          <a:xfrm>
            <a:off x="832104" y="2953512"/>
            <a:ext cx="201168" cy="201168"/>
          </a:xfrm>
          <a:prstGeom prst="rect">
            <a:avLst/>
          </a:prstGeom>
        </p:spPr>
      </p:pic>
      <p:sp>
        <p:nvSpPr>
          <p:cNvPr id="12" name="Text 7"/>
          <p:cNvSpPr/>
          <p:nvPr/>
        </p:nvSpPr>
        <p:spPr>
          <a:xfrm>
            <a:off x="1234440" y="2843784"/>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Airport Information Search</a:t>
            </a:r>
            <a:endParaRPr lang="en-US" sz="1150" dirty="0"/>
          </a:p>
        </p:txBody>
      </p:sp>
      <p:sp>
        <p:nvSpPr>
          <p:cNvPr id="13" name="Shape 8"/>
          <p:cNvSpPr/>
          <p:nvPr/>
        </p:nvSpPr>
        <p:spPr>
          <a:xfrm>
            <a:off x="749808" y="3566160"/>
            <a:ext cx="365760" cy="365760"/>
          </a:xfrm>
          <a:prstGeom prst="ellipse">
            <a:avLst/>
          </a:prstGeom>
          <a:solidFill>
            <a:srgbClr val="DCE3EE"/>
          </a:solidFill>
          <a:ln/>
        </p:spPr>
      </p:sp>
      <p:pic>
        <p:nvPicPr>
          <p:cNvPr id="14" name="Image 3" descr="icons/cogs_2E86AB.png"/>
          <p:cNvPicPr>
            <a:picLocks noChangeAspect="1"/>
          </p:cNvPicPr>
          <p:nvPr/>
        </p:nvPicPr>
        <p:blipFill>
          <a:blip r:embed="rId6"/>
          <a:stretch>
            <a:fillRect/>
          </a:stretch>
        </p:blipFill>
        <p:spPr>
          <a:xfrm>
            <a:off x="832104" y="3648456"/>
            <a:ext cx="201168" cy="201168"/>
          </a:xfrm>
          <a:prstGeom prst="rect">
            <a:avLst/>
          </a:prstGeom>
        </p:spPr>
      </p:pic>
      <p:sp>
        <p:nvSpPr>
          <p:cNvPr id="15" name="Text 9"/>
          <p:cNvSpPr/>
          <p:nvPr/>
        </p:nvSpPr>
        <p:spPr>
          <a:xfrm>
            <a:off x="1234440" y="3538728"/>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Aircraft Information Management</a:t>
            </a:r>
            <a:endParaRPr lang="en-US" sz="1150" dirty="0"/>
          </a:p>
        </p:txBody>
      </p:sp>
      <p:sp>
        <p:nvSpPr>
          <p:cNvPr id="16" name="Shape 10"/>
          <p:cNvSpPr/>
          <p:nvPr/>
        </p:nvSpPr>
        <p:spPr>
          <a:xfrm>
            <a:off x="749808" y="4261104"/>
            <a:ext cx="365760" cy="365760"/>
          </a:xfrm>
          <a:prstGeom prst="ellipse">
            <a:avLst/>
          </a:prstGeom>
          <a:solidFill>
            <a:srgbClr val="DCE3EE"/>
          </a:solidFill>
          <a:ln/>
        </p:spPr>
      </p:sp>
      <p:pic>
        <p:nvPicPr>
          <p:cNvPr id="17" name="Image 4" descr="icons/users_2E86AB.png"/>
          <p:cNvPicPr>
            <a:picLocks noChangeAspect="1"/>
          </p:cNvPicPr>
          <p:nvPr/>
        </p:nvPicPr>
        <p:blipFill>
          <a:blip r:embed="rId7"/>
          <a:stretch>
            <a:fillRect/>
          </a:stretch>
        </p:blipFill>
        <p:spPr>
          <a:xfrm>
            <a:off x="832104" y="4343400"/>
            <a:ext cx="201168" cy="201168"/>
          </a:xfrm>
          <a:prstGeom prst="rect">
            <a:avLst/>
          </a:prstGeom>
        </p:spPr>
      </p:pic>
      <p:sp>
        <p:nvSpPr>
          <p:cNvPr id="18" name="Text 11"/>
          <p:cNvSpPr/>
          <p:nvPr/>
        </p:nvSpPr>
        <p:spPr>
          <a:xfrm>
            <a:off x="1234440" y="4233672"/>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Passenger Record Search</a:t>
            </a:r>
            <a:endParaRPr lang="en-US" sz="1150" dirty="0"/>
          </a:p>
        </p:txBody>
      </p:sp>
      <p:sp>
        <p:nvSpPr>
          <p:cNvPr id="19" name="Shape 12"/>
          <p:cNvSpPr/>
          <p:nvPr/>
        </p:nvSpPr>
        <p:spPr>
          <a:xfrm>
            <a:off x="749808" y="4956048"/>
            <a:ext cx="365760" cy="365760"/>
          </a:xfrm>
          <a:prstGeom prst="ellipse">
            <a:avLst/>
          </a:prstGeom>
          <a:solidFill>
            <a:srgbClr val="DCE3EE"/>
          </a:solidFill>
          <a:ln/>
        </p:spPr>
      </p:sp>
      <p:pic>
        <p:nvPicPr>
          <p:cNvPr id="20" name="Image 5" descr="icons/usertie_2E86AB.png"/>
          <p:cNvPicPr>
            <a:picLocks noChangeAspect="1"/>
          </p:cNvPicPr>
          <p:nvPr/>
        </p:nvPicPr>
        <p:blipFill>
          <a:blip r:embed="rId8"/>
          <a:stretch>
            <a:fillRect/>
          </a:stretch>
        </p:blipFill>
        <p:spPr>
          <a:xfrm>
            <a:off x="832104" y="5038344"/>
            <a:ext cx="201168" cy="201168"/>
          </a:xfrm>
          <a:prstGeom prst="rect">
            <a:avLst/>
          </a:prstGeom>
        </p:spPr>
      </p:pic>
      <p:sp>
        <p:nvSpPr>
          <p:cNvPr id="21" name="Text 13"/>
          <p:cNvSpPr/>
          <p:nvPr/>
        </p:nvSpPr>
        <p:spPr>
          <a:xfrm>
            <a:off x="1234440" y="4928616"/>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Crew Information Management</a:t>
            </a:r>
            <a:endParaRPr lang="en-US" sz="1150" dirty="0"/>
          </a:p>
        </p:txBody>
      </p:sp>
      <p:sp>
        <p:nvSpPr>
          <p:cNvPr id="22" name="Shape 14"/>
          <p:cNvSpPr/>
          <p:nvPr/>
        </p:nvSpPr>
        <p:spPr>
          <a:xfrm>
            <a:off x="749808" y="5650992"/>
            <a:ext cx="365760" cy="365760"/>
          </a:xfrm>
          <a:prstGeom prst="ellipse">
            <a:avLst/>
          </a:prstGeom>
          <a:solidFill>
            <a:srgbClr val="DCE3EE"/>
          </a:solidFill>
          <a:ln/>
        </p:spPr>
      </p:sp>
      <p:pic>
        <p:nvPicPr>
          <p:cNvPr id="23" name="Image 6" descr="icons/map_2E86AB.png"/>
          <p:cNvPicPr>
            <a:picLocks noChangeAspect="1"/>
          </p:cNvPicPr>
          <p:nvPr/>
        </p:nvPicPr>
        <p:blipFill>
          <a:blip r:embed="rId9"/>
          <a:stretch>
            <a:fillRect/>
          </a:stretch>
        </p:blipFill>
        <p:spPr>
          <a:xfrm>
            <a:off x="832104" y="5733288"/>
            <a:ext cx="201168" cy="201168"/>
          </a:xfrm>
          <a:prstGeom prst="rect">
            <a:avLst/>
          </a:prstGeom>
        </p:spPr>
      </p:pic>
      <p:sp>
        <p:nvSpPr>
          <p:cNvPr id="24" name="Text 15"/>
          <p:cNvSpPr/>
          <p:nvPr/>
        </p:nvSpPr>
        <p:spPr>
          <a:xfrm>
            <a:off x="1234440" y="5623560"/>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Gate &amp; Runway Management</a:t>
            </a:r>
            <a:endParaRPr lang="en-US" sz="1150" dirty="0"/>
          </a:p>
        </p:txBody>
      </p:sp>
      <p:sp>
        <p:nvSpPr>
          <p:cNvPr id="25" name="Shape 16"/>
          <p:cNvSpPr/>
          <p:nvPr/>
        </p:nvSpPr>
        <p:spPr>
          <a:xfrm>
            <a:off x="4407408" y="1188720"/>
            <a:ext cx="3639312" cy="5257800"/>
          </a:xfrm>
          <a:prstGeom prst="roundRect">
            <a:avLst>
              <a:gd name="adj" fmla="val 3015"/>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26" name="Shape 17"/>
          <p:cNvSpPr/>
          <p:nvPr/>
        </p:nvSpPr>
        <p:spPr>
          <a:xfrm>
            <a:off x="4572000" y="1353312"/>
            <a:ext cx="3310128" cy="566928"/>
          </a:xfrm>
          <a:prstGeom prst="roundRect">
            <a:avLst>
              <a:gd name="adj" fmla="val 16129"/>
            </a:avLst>
          </a:prstGeom>
          <a:solidFill>
            <a:srgbClr val="2E86AB"/>
          </a:solidFill>
          <a:ln/>
        </p:spPr>
      </p:sp>
      <p:pic>
        <p:nvPicPr>
          <p:cNvPr id="27" name="Image 7" descr="icons/search_FFFFFF.png"/>
          <p:cNvPicPr>
            <a:picLocks noChangeAspect="1"/>
          </p:cNvPicPr>
          <p:nvPr/>
        </p:nvPicPr>
        <p:blipFill>
          <a:blip r:embed="rId10"/>
          <a:stretch>
            <a:fillRect/>
          </a:stretch>
        </p:blipFill>
        <p:spPr>
          <a:xfrm>
            <a:off x="4700016" y="1481328"/>
            <a:ext cx="329184" cy="329184"/>
          </a:xfrm>
          <a:prstGeom prst="rect">
            <a:avLst/>
          </a:prstGeom>
        </p:spPr>
      </p:pic>
      <p:sp>
        <p:nvSpPr>
          <p:cNvPr id="28" name="Text 18"/>
          <p:cNvSpPr/>
          <p:nvPr/>
        </p:nvSpPr>
        <p:spPr>
          <a:xfrm>
            <a:off x="5120640" y="1353312"/>
            <a:ext cx="2724912" cy="56692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Intelligent Features</a:t>
            </a:r>
            <a:endParaRPr lang="en-US" sz="1450" dirty="0"/>
          </a:p>
        </p:txBody>
      </p:sp>
      <p:sp>
        <p:nvSpPr>
          <p:cNvPr id="29" name="Shape 19"/>
          <p:cNvSpPr/>
          <p:nvPr/>
        </p:nvSpPr>
        <p:spPr>
          <a:xfrm>
            <a:off x="4608576" y="2176272"/>
            <a:ext cx="365760" cy="365760"/>
          </a:xfrm>
          <a:prstGeom prst="ellipse">
            <a:avLst/>
          </a:prstGeom>
          <a:solidFill>
            <a:srgbClr val="DDEFF6"/>
          </a:solidFill>
          <a:ln/>
        </p:spPr>
      </p:sp>
      <p:pic>
        <p:nvPicPr>
          <p:cNvPr id="30" name="Image 8" descr="icons/search_0B1F3A.png"/>
          <p:cNvPicPr>
            <a:picLocks noChangeAspect="1"/>
          </p:cNvPicPr>
          <p:nvPr/>
        </p:nvPicPr>
        <p:blipFill>
          <a:blip r:embed="rId10"/>
          <a:stretch>
            <a:fillRect/>
          </a:stretch>
        </p:blipFill>
        <p:spPr>
          <a:xfrm>
            <a:off x="4690872" y="2258568"/>
            <a:ext cx="201168" cy="201168"/>
          </a:xfrm>
          <a:prstGeom prst="rect">
            <a:avLst/>
          </a:prstGeom>
        </p:spPr>
      </p:pic>
      <p:sp>
        <p:nvSpPr>
          <p:cNvPr id="31" name="Text 20"/>
          <p:cNvSpPr/>
          <p:nvPr/>
        </p:nvSpPr>
        <p:spPr>
          <a:xfrm>
            <a:off x="5093208" y="2148840"/>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Fast Flight &amp; Passenger Search</a:t>
            </a:r>
            <a:endParaRPr lang="en-US" sz="1150" dirty="0"/>
          </a:p>
        </p:txBody>
      </p:sp>
      <p:sp>
        <p:nvSpPr>
          <p:cNvPr id="32" name="Shape 21"/>
          <p:cNvSpPr/>
          <p:nvPr/>
        </p:nvSpPr>
        <p:spPr>
          <a:xfrm>
            <a:off x="4608576" y="2871216"/>
            <a:ext cx="365760" cy="365760"/>
          </a:xfrm>
          <a:prstGeom prst="ellipse">
            <a:avLst/>
          </a:prstGeom>
          <a:solidFill>
            <a:srgbClr val="DDEFF6"/>
          </a:solidFill>
          <a:ln/>
        </p:spPr>
      </p:sp>
      <p:pic>
        <p:nvPicPr>
          <p:cNvPr id="33" name="Image 9" descr="icons/route_0B1F3A.png"/>
          <p:cNvPicPr>
            <a:picLocks noChangeAspect="1"/>
          </p:cNvPicPr>
          <p:nvPr/>
        </p:nvPicPr>
        <p:blipFill>
          <a:blip r:embed="rId11"/>
          <a:stretch>
            <a:fillRect/>
          </a:stretch>
        </p:blipFill>
        <p:spPr>
          <a:xfrm>
            <a:off x="4690872" y="2953512"/>
            <a:ext cx="201168" cy="201168"/>
          </a:xfrm>
          <a:prstGeom prst="rect">
            <a:avLst/>
          </a:prstGeom>
        </p:spPr>
      </p:pic>
      <p:sp>
        <p:nvSpPr>
          <p:cNvPr id="34" name="Text 22"/>
          <p:cNvSpPr/>
          <p:nvPr/>
        </p:nvSpPr>
        <p:spPr>
          <a:xfrm>
            <a:off x="5093208" y="2843784"/>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Route Search &amp; Navigation</a:t>
            </a:r>
            <a:endParaRPr lang="en-US" sz="1150" dirty="0"/>
          </a:p>
        </p:txBody>
      </p:sp>
      <p:sp>
        <p:nvSpPr>
          <p:cNvPr id="35" name="Shape 23"/>
          <p:cNvSpPr/>
          <p:nvPr/>
        </p:nvSpPr>
        <p:spPr>
          <a:xfrm>
            <a:off x="4608576" y="3566160"/>
            <a:ext cx="365760" cy="365760"/>
          </a:xfrm>
          <a:prstGeom prst="ellipse">
            <a:avLst/>
          </a:prstGeom>
          <a:solidFill>
            <a:srgbClr val="DDEFF6"/>
          </a:solidFill>
          <a:ln/>
        </p:spPr>
      </p:sp>
      <p:pic>
        <p:nvPicPr>
          <p:cNvPr id="36" name="Image 10" descr="icons/usertie_0B1F3A.png"/>
          <p:cNvPicPr>
            <a:picLocks noChangeAspect="1"/>
          </p:cNvPicPr>
          <p:nvPr/>
        </p:nvPicPr>
        <p:blipFill>
          <a:blip r:embed="rId8"/>
          <a:stretch>
            <a:fillRect/>
          </a:stretch>
        </p:blipFill>
        <p:spPr>
          <a:xfrm>
            <a:off x="4690872" y="3648456"/>
            <a:ext cx="201168" cy="201168"/>
          </a:xfrm>
          <a:prstGeom prst="rect">
            <a:avLst/>
          </a:prstGeom>
        </p:spPr>
      </p:pic>
      <p:sp>
        <p:nvSpPr>
          <p:cNvPr id="37" name="Text 24"/>
          <p:cNvSpPr/>
          <p:nvPr/>
        </p:nvSpPr>
        <p:spPr>
          <a:xfrm>
            <a:off x="5093208" y="3538728"/>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Crew Allocation Support</a:t>
            </a:r>
            <a:endParaRPr lang="en-US" sz="1150" dirty="0"/>
          </a:p>
        </p:txBody>
      </p:sp>
      <p:sp>
        <p:nvSpPr>
          <p:cNvPr id="38" name="Shape 25"/>
          <p:cNvSpPr/>
          <p:nvPr/>
        </p:nvSpPr>
        <p:spPr>
          <a:xfrm>
            <a:off x="4608576" y="4261104"/>
            <a:ext cx="365760" cy="365760"/>
          </a:xfrm>
          <a:prstGeom prst="ellipse">
            <a:avLst/>
          </a:prstGeom>
          <a:solidFill>
            <a:srgbClr val="DDEFF6"/>
          </a:solidFill>
          <a:ln/>
        </p:spPr>
      </p:sp>
      <p:pic>
        <p:nvPicPr>
          <p:cNvPr id="39" name="Image 11" descr="icons/map_0B1F3A.png"/>
          <p:cNvPicPr>
            <a:picLocks noChangeAspect="1"/>
          </p:cNvPicPr>
          <p:nvPr/>
        </p:nvPicPr>
        <p:blipFill>
          <a:blip r:embed="rId9"/>
          <a:stretch>
            <a:fillRect/>
          </a:stretch>
        </p:blipFill>
        <p:spPr>
          <a:xfrm>
            <a:off x="4690872" y="4343400"/>
            <a:ext cx="201168" cy="201168"/>
          </a:xfrm>
          <a:prstGeom prst="rect">
            <a:avLst/>
          </a:prstGeom>
        </p:spPr>
      </p:pic>
      <p:sp>
        <p:nvSpPr>
          <p:cNvPr id="40" name="Text 26"/>
          <p:cNvSpPr/>
          <p:nvPr/>
        </p:nvSpPr>
        <p:spPr>
          <a:xfrm>
            <a:off x="5093208" y="4233672"/>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Gate Assignment Assistance</a:t>
            </a:r>
            <a:endParaRPr lang="en-US" sz="1150" dirty="0"/>
          </a:p>
        </p:txBody>
      </p:sp>
      <p:sp>
        <p:nvSpPr>
          <p:cNvPr id="41" name="Shape 27"/>
          <p:cNvSpPr/>
          <p:nvPr/>
        </p:nvSpPr>
        <p:spPr>
          <a:xfrm>
            <a:off x="4608576" y="4956048"/>
            <a:ext cx="365760" cy="365760"/>
          </a:xfrm>
          <a:prstGeom prst="ellipse">
            <a:avLst/>
          </a:prstGeom>
          <a:solidFill>
            <a:srgbClr val="DDEFF6"/>
          </a:solidFill>
          <a:ln/>
        </p:spPr>
      </p:sp>
      <p:pic>
        <p:nvPicPr>
          <p:cNvPr id="42" name="Image 12" descr="icons/calendar_0B1F3A.png"/>
          <p:cNvPicPr>
            <a:picLocks noChangeAspect="1"/>
          </p:cNvPicPr>
          <p:nvPr/>
        </p:nvPicPr>
        <p:blipFill>
          <a:blip r:embed="rId12"/>
          <a:stretch>
            <a:fillRect/>
          </a:stretch>
        </p:blipFill>
        <p:spPr>
          <a:xfrm>
            <a:off x="4690872" y="5038344"/>
            <a:ext cx="201168" cy="201168"/>
          </a:xfrm>
          <a:prstGeom prst="rect">
            <a:avLst/>
          </a:prstGeom>
        </p:spPr>
      </p:pic>
      <p:sp>
        <p:nvSpPr>
          <p:cNvPr id="43" name="Text 28"/>
          <p:cNvSpPr/>
          <p:nvPr/>
        </p:nvSpPr>
        <p:spPr>
          <a:xfrm>
            <a:off x="5093208" y="4928616"/>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Flight Scheduling Support</a:t>
            </a:r>
            <a:endParaRPr lang="en-US" sz="1150" dirty="0"/>
          </a:p>
        </p:txBody>
      </p:sp>
      <p:sp>
        <p:nvSpPr>
          <p:cNvPr id="44" name="Shape 29"/>
          <p:cNvSpPr/>
          <p:nvPr/>
        </p:nvSpPr>
        <p:spPr>
          <a:xfrm>
            <a:off x="4608576" y="5650992"/>
            <a:ext cx="365760" cy="365760"/>
          </a:xfrm>
          <a:prstGeom prst="ellipse">
            <a:avLst/>
          </a:prstGeom>
          <a:solidFill>
            <a:srgbClr val="DDEFF6"/>
          </a:solidFill>
          <a:ln/>
        </p:spPr>
      </p:sp>
      <p:pic>
        <p:nvPicPr>
          <p:cNvPr id="45" name="Image 13" descr="icons/brain_0B1F3A.png"/>
          <p:cNvPicPr>
            <a:picLocks noChangeAspect="1"/>
          </p:cNvPicPr>
          <p:nvPr/>
        </p:nvPicPr>
        <p:blipFill>
          <a:blip r:embed="rId13"/>
          <a:stretch>
            <a:fillRect/>
          </a:stretch>
        </p:blipFill>
        <p:spPr>
          <a:xfrm>
            <a:off x="4690872" y="5733288"/>
            <a:ext cx="201168" cy="201168"/>
          </a:xfrm>
          <a:prstGeom prst="rect">
            <a:avLst/>
          </a:prstGeom>
        </p:spPr>
      </p:pic>
      <p:sp>
        <p:nvSpPr>
          <p:cNvPr id="46" name="Text 30"/>
          <p:cNvSpPr/>
          <p:nvPr/>
        </p:nvSpPr>
        <p:spPr>
          <a:xfrm>
            <a:off x="5093208" y="5623560"/>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Operational Decision Support</a:t>
            </a:r>
            <a:endParaRPr lang="en-US" sz="1150" dirty="0"/>
          </a:p>
        </p:txBody>
      </p:sp>
      <p:sp>
        <p:nvSpPr>
          <p:cNvPr id="47" name="Shape 31"/>
          <p:cNvSpPr/>
          <p:nvPr/>
        </p:nvSpPr>
        <p:spPr>
          <a:xfrm>
            <a:off x="8266176" y="1188720"/>
            <a:ext cx="3639312" cy="5257800"/>
          </a:xfrm>
          <a:prstGeom prst="roundRect">
            <a:avLst>
              <a:gd name="adj" fmla="val 3015"/>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48" name="Shape 32"/>
          <p:cNvSpPr/>
          <p:nvPr/>
        </p:nvSpPr>
        <p:spPr>
          <a:xfrm>
            <a:off x="8430768" y="1353312"/>
            <a:ext cx="3310128" cy="566928"/>
          </a:xfrm>
          <a:prstGeom prst="roundRect">
            <a:avLst>
              <a:gd name="adj" fmla="val 16129"/>
            </a:avLst>
          </a:prstGeom>
          <a:solidFill>
            <a:srgbClr val="F2A541"/>
          </a:solidFill>
          <a:ln/>
        </p:spPr>
      </p:sp>
      <p:pic>
        <p:nvPicPr>
          <p:cNvPr id="49" name="Image 14" descr="icons/chart_FFFFFF.png"/>
          <p:cNvPicPr>
            <a:picLocks noChangeAspect="1"/>
          </p:cNvPicPr>
          <p:nvPr/>
        </p:nvPicPr>
        <p:blipFill>
          <a:blip r:embed="rId14"/>
          <a:stretch>
            <a:fillRect/>
          </a:stretch>
        </p:blipFill>
        <p:spPr>
          <a:xfrm>
            <a:off x="8558784" y="1481328"/>
            <a:ext cx="329184" cy="329184"/>
          </a:xfrm>
          <a:prstGeom prst="rect">
            <a:avLst/>
          </a:prstGeom>
        </p:spPr>
      </p:pic>
      <p:sp>
        <p:nvSpPr>
          <p:cNvPr id="50" name="Text 33"/>
          <p:cNvSpPr/>
          <p:nvPr/>
        </p:nvSpPr>
        <p:spPr>
          <a:xfrm>
            <a:off x="8979408" y="1353312"/>
            <a:ext cx="2724912" cy="56692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Future Enhancements</a:t>
            </a:r>
            <a:endParaRPr lang="en-US" sz="1450" dirty="0"/>
          </a:p>
        </p:txBody>
      </p:sp>
      <p:sp>
        <p:nvSpPr>
          <p:cNvPr id="51" name="Shape 34"/>
          <p:cNvSpPr/>
          <p:nvPr/>
        </p:nvSpPr>
        <p:spPr>
          <a:xfrm>
            <a:off x="8467344" y="2176272"/>
            <a:ext cx="365760" cy="365760"/>
          </a:xfrm>
          <a:prstGeom prst="ellipse">
            <a:avLst/>
          </a:prstGeom>
          <a:solidFill>
            <a:srgbClr val="FDECD2"/>
          </a:solidFill>
          <a:ln/>
        </p:spPr>
      </p:sp>
      <p:pic>
        <p:nvPicPr>
          <p:cNvPr id="52" name="Image 15" descr="icons/brain_0B1F3A.png"/>
          <p:cNvPicPr>
            <a:picLocks noChangeAspect="1"/>
          </p:cNvPicPr>
          <p:nvPr/>
        </p:nvPicPr>
        <p:blipFill>
          <a:blip r:embed="rId13"/>
          <a:stretch>
            <a:fillRect/>
          </a:stretch>
        </p:blipFill>
        <p:spPr>
          <a:xfrm>
            <a:off x="8549640" y="2258568"/>
            <a:ext cx="201168" cy="201168"/>
          </a:xfrm>
          <a:prstGeom prst="rect">
            <a:avLst/>
          </a:prstGeom>
        </p:spPr>
      </p:pic>
      <p:sp>
        <p:nvSpPr>
          <p:cNvPr id="53" name="Text 35"/>
          <p:cNvSpPr/>
          <p:nvPr/>
        </p:nvSpPr>
        <p:spPr>
          <a:xfrm>
            <a:off x="8951976" y="2148840"/>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Intelligent Recommendations</a:t>
            </a:r>
            <a:endParaRPr lang="en-US" sz="1150" dirty="0"/>
          </a:p>
        </p:txBody>
      </p:sp>
      <p:sp>
        <p:nvSpPr>
          <p:cNvPr id="54" name="Shape 36"/>
          <p:cNvSpPr/>
          <p:nvPr/>
        </p:nvSpPr>
        <p:spPr>
          <a:xfrm>
            <a:off x="8467344" y="2871216"/>
            <a:ext cx="365760" cy="365760"/>
          </a:xfrm>
          <a:prstGeom prst="ellipse">
            <a:avLst/>
          </a:prstGeom>
          <a:solidFill>
            <a:srgbClr val="FDECD2"/>
          </a:solidFill>
          <a:ln/>
        </p:spPr>
      </p:sp>
      <p:pic>
        <p:nvPicPr>
          <p:cNvPr id="55" name="Image 16" descr="icons/calendar_0B1F3A.png"/>
          <p:cNvPicPr>
            <a:picLocks noChangeAspect="1"/>
          </p:cNvPicPr>
          <p:nvPr/>
        </p:nvPicPr>
        <p:blipFill>
          <a:blip r:embed="rId12"/>
          <a:stretch>
            <a:fillRect/>
          </a:stretch>
        </p:blipFill>
        <p:spPr>
          <a:xfrm>
            <a:off x="8549640" y="2953512"/>
            <a:ext cx="201168" cy="201168"/>
          </a:xfrm>
          <a:prstGeom prst="rect">
            <a:avLst/>
          </a:prstGeom>
        </p:spPr>
      </p:pic>
      <p:sp>
        <p:nvSpPr>
          <p:cNvPr id="56" name="Text 37"/>
          <p:cNvSpPr/>
          <p:nvPr/>
        </p:nvSpPr>
        <p:spPr>
          <a:xfrm>
            <a:off x="8951976" y="2843784"/>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Delay-aware Scheduling</a:t>
            </a:r>
            <a:endParaRPr lang="en-US" sz="1150" dirty="0"/>
          </a:p>
        </p:txBody>
      </p:sp>
      <p:sp>
        <p:nvSpPr>
          <p:cNvPr id="57" name="Shape 38"/>
          <p:cNvSpPr/>
          <p:nvPr/>
        </p:nvSpPr>
        <p:spPr>
          <a:xfrm>
            <a:off x="8467344" y="3566160"/>
            <a:ext cx="365760" cy="365760"/>
          </a:xfrm>
          <a:prstGeom prst="ellipse">
            <a:avLst/>
          </a:prstGeom>
          <a:solidFill>
            <a:srgbClr val="FDECD2"/>
          </a:solidFill>
          <a:ln/>
        </p:spPr>
      </p:sp>
      <p:pic>
        <p:nvPicPr>
          <p:cNvPr id="58" name="Image 17" descr="icons/cogs_0B1F3A.png"/>
          <p:cNvPicPr>
            <a:picLocks noChangeAspect="1"/>
          </p:cNvPicPr>
          <p:nvPr/>
        </p:nvPicPr>
        <p:blipFill>
          <a:blip r:embed="rId6"/>
          <a:stretch>
            <a:fillRect/>
          </a:stretch>
        </p:blipFill>
        <p:spPr>
          <a:xfrm>
            <a:off x="8549640" y="3648456"/>
            <a:ext cx="201168" cy="201168"/>
          </a:xfrm>
          <a:prstGeom prst="rect">
            <a:avLst/>
          </a:prstGeom>
        </p:spPr>
      </p:pic>
      <p:sp>
        <p:nvSpPr>
          <p:cNvPr id="59" name="Text 39"/>
          <p:cNvSpPr/>
          <p:nvPr/>
        </p:nvSpPr>
        <p:spPr>
          <a:xfrm>
            <a:off x="8951976" y="3538728"/>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Resource Allocation Optimization</a:t>
            </a:r>
            <a:endParaRPr lang="en-US" sz="1150" dirty="0"/>
          </a:p>
        </p:txBody>
      </p:sp>
      <p:sp>
        <p:nvSpPr>
          <p:cNvPr id="60" name="Shape 40"/>
          <p:cNvSpPr/>
          <p:nvPr/>
        </p:nvSpPr>
        <p:spPr>
          <a:xfrm>
            <a:off x="8467344" y="4261104"/>
            <a:ext cx="365760" cy="365760"/>
          </a:xfrm>
          <a:prstGeom prst="ellipse">
            <a:avLst/>
          </a:prstGeom>
          <a:solidFill>
            <a:srgbClr val="FDECD2"/>
          </a:solidFill>
          <a:ln/>
        </p:spPr>
      </p:sp>
      <p:pic>
        <p:nvPicPr>
          <p:cNvPr id="61" name="Image 18" descr="icons/search_0B1F3A.png"/>
          <p:cNvPicPr>
            <a:picLocks noChangeAspect="1"/>
          </p:cNvPicPr>
          <p:nvPr/>
        </p:nvPicPr>
        <p:blipFill>
          <a:blip r:embed="rId10"/>
          <a:stretch>
            <a:fillRect/>
          </a:stretch>
        </p:blipFill>
        <p:spPr>
          <a:xfrm>
            <a:off x="8549640" y="4343400"/>
            <a:ext cx="201168" cy="201168"/>
          </a:xfrm>
          <a:prstGeom prst="rect">
            <a:avLst/>
          </a:prstGeom>
        </p:spPr>
      </p:pic>
      <p:sp>
        <p:nvSpPr>
          <p:cNvPr id="62" name="Text 41"/>
          <p:cNvSpPr/>
          <p:nvPr/>
        </p:nvSpPr>
        <p:spPr>
          <a:xfrm>
            <a:off x="8951976" y="4233672"/>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Pattern-based Search</a:t>
            </a:r>
            <a:endParaRPr lang="en-US" sz="1150" dirty="0"/>
          </a:p>
        </p:txBody>
      </p:sp>
      <p:sp>
        <p:nvSpPr>
          <p:cNvPr id="63" name="Shape 42"/>
          <p:cNvSpPr/>
          <p:nvPr/>
        </p:nvSpPr>
        <p:spPr>
          <a:xfrm>
            <a:off x="8467344" y="4956048"/>
            <a:ext cx="365760" cy="365760"/>
          </a:xfrm>
          <a:prstGeom prst="ellipse">
            <a:avLst/>
          </a:prstGeom>
          <a:solidFill>
            <a:srgbClr val="FDECD2"/>
          </a:solidFill>
          <a:ln/>
        </p:spPr>
      </p:sp>
      <p:pic>
        <p:nvPicPr>
          <p:cNvPr id="64" name="Image 19" descr="icons/exchange_0B1F3A.png"/>
          <p:cNvPicPr>
            <a:picLocks noChangeAspect="1"/>
          </p:cNvPicPr>
          <p:nvPr/>
        </p:nvPicPr>
        <p:blipFill>
          <a:blip r:embed="rId15"/>
          <a:stretch>
            <a:fillRect/>
          </a:stretch>
        </p:blipFill>
        <p:spPr>
          <a:xfrm>
            <a:off x="8549640" y="5038344"/>
            <a:ext cx="201168" cy="201168"/>
          </a:xfrm>
          <a:prstGeom prst="rect">
            <a:avLst/>
          </a:prstGeom>
        </p:spPr>
      </p:pic>
      <p:sp>
        <p:nvSpPr>
          <p:cNvPr id="65" name="Text 43"/>
          <p:cNvSpPr/>
          <p:nvPr/>
        </p:nvSpPr>
        <p:spPr>
          <a:xfrm>
            <a:off x="8951976" y="4928616"/>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Efficient Matching &amp; Assignment</a:t>
            </a:r>
            <a:endParaRPr lang="en-US" sz="1150" dirty="0"/>
          </a:p>
        </p:txBody>
      </p:sp>
      <p:sp>
        <p:nvSpPr>
          <p:cNvPr id="66" name="Shape 44"/>
          <p:cNvSpPr/>
          <p:nvPr/>
        </p:nvSpPr>
        <p:spPr>
          <a:xfrm>
            <a:off x="8467344" y="5650992"/>
            <a:ext cx="365760" cy="365760"/>
          </a:xfrm>
          <a:prstGeom prst="ellipse">
            <a:avLst/>
          </a:prstGeom>
          <a:solidFill>
            <a:srgbClr val="FDECD2"/>
          </a:solidFill>
          <a:ln/>
        </p:spPr>
      </p:sp>
      <p:pic>
        <p:nvPicPr>
          <p:cNvPr id="67" name="Image 20" descr="icons/chart_0B1F3A.png"/>
          <p:cNvPicPr>
            <a:picLocks noChangeAspect="1"/>
          </p:cNvPicPr>
          <p:nvPr/>
        </p:nvPicPr>
        <p:blipFill>
          <a:blip r:embed="rId14"/>
          <a:stretch>
            <a:fillRect/>
          </a:stretch>
        </p:blipFill>
        <p:spPr>
          <a:xfrm>
            <a:off x="8549640" y="5733288"/>
            <a:ext cx="201168" cy="201168"/>
          </a:xfrm>
          <a:prstGeom prst="rect">
            <a:avLst/>
          </a:prstGeom>
        </p:spPr>
      </p:pic>
      <p:sp>
        <p:nvSpPr>
          <p:cNvPr id="68" name="Text 45"/>
          <p:cNvSpPr/>
          <p:nvPr/>
        </p:nvSpPr>
        <p:spPr>
          <a:xfrm>
            <a:off x="8951976" y="5623560"/>
            <a:ext cx="2724912" cy="640080"/>
          </a:xfrm>
          <a:prstGeom prst="rect">
            <a:avLst/>
          </a:prstGeom>
          <a:noFill/>
          <a:ln/>
        </p:spPr>
        <p:txBody>
          <a:bodyPr wrap="square" rtlCol="0" anchor="ctr"/>
          <a:lstStyle/>
          <a:p>
            <a:pPr marL="0" indent="0">
              <a:lnSpc>
                <a:spcPct val="105000"/>
              </a:lnSpc>
              <a:buNone/>
            </a:pPr>
            <a:r>
              <a:rPr lang="en-US" sz="1150" dirty="0">
                <a:solidFill>
                  <a:srgbClr val="1A2233"/>
                </a:solidFill>
                <a:latin typeface="Calibri" pitchFamily="34" charset="0"/>
                <a:ea typeface="Calibri" pitchFamily="34" charset="-122"/>
                <a:cs typeface="Calibri" pitchFamily="34" charset="-120"/>
              </a:rPr>
              <a:t>Performance Analytics Dashboard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3000" b="1" dirty="0">
                <a:solidFill>
                  <a:srgbClr val="1A2233"/>
                </a:solidFill>
                <a:latin typeface="Cambria" pitchFamily="34" charset="0"/>
                <a:ea typeface="Cambria" pitchFamily="34" charset="-122"/>
                <a:cs typeface="Cambria" pitchFamily="34" charset="-120"/>
              </a:rPr>
              <a:t>Tools &amp; Technologies</a:t>
            </a:r>
            <a:endParaRPr lang="en-US" sz="3000" dirty="0"/>
          </a:p>
        </p:txBody>
      </p:sp>
      <p:sp>
        <p:nvSpPr>
          <p:cNvPr id="3" name="Shape 1"/>
          <p:cNvSpPr/>
          <p:nvPr/>
        </p:nvSpPr>
        <p:spPr>
          <a:xfrm>
            <a:off x="548640" y="1234440"/>
            <a:ext cx="3639312" cy="2606040"/>
          </a:xfrm>
          <a:prstGeom prst="roundRect">
            <a:avLst>
              <a:gd name="adj" fmla="val 4211"/>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4" name="Shape 2"/>
          <p:cNvSpPr/>
          <p:nvPr/>
        </p:nvSpPr>
        <p:spPr>
          <a:xfrm>
            <a:off x="822960" y="1508760"/>
            <a:ext cx="640080" cy="640080"/>
          </a:xfrm>
          <a:prstGeom prst="ellipse">
            <a:avLst/>
          </a:prstGeom>
          <a:solidFill>
            <a:srgbClr val="0B1F3A"/>
          </a:solidFill>
          <a:ln/>
        </p:spPr>
      </p:sp>
      <p:pic>
        <p:nvPicPr>
          <p:cNvPr id="5" name="Image 0" descr="icons/code_FFFFFF.png"/>
          <p:cNvPicPr>
            <a:picLocks noChangeAspect="1"/>
          </p:cNvPicPr>
          <p:nvPr/>
        </p:nvPicPr>
        <p:blipFill>
          <a:blip r:embed="rId3"/>
          <a:stretch>
            <a:fillRect/>
          </a:stretch>
        </p:blipFill>
        <p:spPr>
          <a:xfrm>
            <a:off x="960120" y="1645920"/>
            <a:ext cx="365760" cy="365760"/>
          </a:xfrm>
          <a:prstGeom prst="rect">
            <a:avLst/>
          </a:prstGeom>
        </p:spPr>
      </p:pic>
      <p:sp>
        <p:nvSpPr>
          <p:cNvPr id="6" name="Text 3"/>
          <p:cNvSpPr/>
          <p:nvPr/>
        </p:nvSpPr>
        <p:spPr>
          <a:xfrm>
            <a:off x="822960" y="2258568"/>
            <a:ext cx="3090672" cy="411480"/>
          </a:xfrm>
          <a:prstGeom prst="rect">
            <a:avLst/>
          </a:prstGeom>
          <a:noFill/>
          <a:ln/>
        </p:spPr>
        <p:txBody>
          <a:bodyPr wrap="square" rtlCol="0" anchor="ctr"/>
          <a:lstStyle/>
          <a:p>
            <a:pPr marL="0" indent="0">
              <a:buNone/>
            </a:pPr>
            <a:r>
              <a:rPr lang="en-US" sz="1450" b="1" dirty="0">
                <a:solidFill>
                  <a:srgbClr val="1A2233"/>
                </a:solidFill>
                <a:latin typeface="Calibri" pitchFamily="34" charset="0"/>
                <a:ea typeface="Calibri" pitchFamily="34" charset="-122"/>
                <a:cs typeface="Calibri" pitchFamily="34" charset="-120"/>
              </a:rPr>
              <a:t>Programming Language</a:t>
            </a:r>
            <a:endParaRPr lang="en-US" sz="1450" dirty="0"/>
          </a:p>
        </p:txBody>
      </p:sp>
      <p:sp>
        <p:nvSpPr>
          <p:cNvPr id="7" name="Text 4"/>
          <p:cNvSpPr/>
          <p:nvPr/>
        </p:nvSpPr>
        <p:spPr>
          <a:xfrm>
            <a:off x="822960" y="2697480"/>
            <a:ext cx="3090672" cy="1005840"/>
          </a:xfrm>
          <a:prstGeom prst="rect">
            <a:avLst/>
          </a:prstGeom>
          <a:noFill/>
          <a:ln/>
        </p:spPr>
        <p:txBody>
          <a:bodyPr wrap="square" rtlCol="0" anchor="ctr"/>
          <a:lstStyle/>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Java</a:t>
            </a:r>
            <a:endParaRPr lang="en-US" sz="1200" dirty="0"/>
          </a:p>
        </p:txBody>
      </p:sp>
      <p:sp>
        <p:nvSpPr>
          <p:cNvPr id="8" name="Shape 5"/>
          <p:cNvSpPr/>
          <p:nvPr/>
        </p:nvSpPr>
        <p:spPr>
          <a:xfrm>
            <a:off x="4279392" y="1234440"/>
            <a:ext cx="3639312" cy="2606040"/>
          </a:xfrm>
          <a:prstGeom prst="roundRect">
            <a:avLst>
              <a:gd name="adj" fmla="val 4211"/>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9" name="Shape 6"/>
          <p:cNvSpPr/>
          <p:nvPr/>
        </p:nvSpPr>
        <p:spPr>
          <a:xfrm>
            <a:off x="4553712" y="1508760"/>
            <a:ext cx="640080" cy="640080"/>
          </a:xfrm>
          <a:prstGeom prst="ellipse">
            <a:avLst/>
          </a:prstGeom>
          <a:solidFill>
            <a:srgbClr val="2E86AB"/>
          </a:solidFill>
          <a:ln/>
        </p:spPr>
      </p:sp>
      <p:pic>
        <p:nvPicPr>
          <p:cNvPr id="10" name="Image 1" descr="icons/brain_FFFFFF.png"/>
          <p:cNvPicPr>
            <a:picLocks noChangeAspect="1"/>
          </p:cNvPicPr>
          <p:nvPr/>
        </p:nvPicPr>
        <p:blipFill>
          <a:blip r:embed="rId4"/>
          <a:stretch>
            <a:fillRect/>
          </a:stretch>
        </p:blipFill>
        <p:spPr>
          <a:xfrm>
            <a:off x="4690872" y="1645920"/>
            <a:ext cx="365760" cy="365760"/>
          </a:xfrm>
          <a:prstGeom prst="rect">
            <a:avLst/>
          </a:prstGeom>
        </p:spPr>
      </p:pic>
      <p:sp>
        <p:nvSpPr>
          <p:cNvPr id="11" name="Text 7"/>
          <p:cNvSpPr/>
          <p:nvPr/>
        </p:nvSpPr>
        <p:spPr>
          <a:xfrm>
            <a:off x="4553712" y="2258568"/>
            <a:ext cx="3090672" cy="411480"/>
          </a:xfrm>
          <a:prstGeom prst="rect">
            <a:avLst/>
          </a:prstGeom>
          <a:noFill/>
          <a:ln/>
        </p:spPr>
        <p:txBody>
          <a:bodyPr wrap="square" rtlCol="0" anchor="ctr"/>
          <a:lstStyle/>
          <a:p>
            <a:pPr marL="0" indent="0">
              <a:buNone/>
            </a:pPr>
            <a:r>
              <a:rPr lang="en-US" sz="1450" b="1" dirty="0">
                <a:solidFill>
                  <a:srgbClr val="1A2233"/>
                </a:solidFill>
                <a:latin typeface="Calibri" pitchFamily="34" charset="0"/>
                <a:ea typeface="Calibri" pitchFamily="34" charset="-122"/>
                <a:cs typeface="Calibri" pitchFamily="34" charset="-120"/>
              </a:rPr>
              <a:t>Concepts</a:t>
            </a:r>
            <a:endParaRPr lang="en-US" sz="1450" dirty="0"/>
          </a:p>
        </p:txBody>
      </p:sp>
      <p:sp>
        <p:nvSpPr>
          <p:cNvPr id="12" name="Text 8"/>
          <p:cNvSpPr/>
          <p:nvPr/>
        </p:nvSpPr>
        <p:spPr>
          <a:xfrm>
            <a:off x="4553712" y="2697480"/>
            <a:ext cx="3090672" cy="1005840"/>
          </a:xfrm>
          <a:prstGeom prst="rect">
            <a:avLst/>
          </a:prstGeom>
          <a:noFill/>
          <a:ln/>
        </p:spPr>
        <p:txBody>
          <a:bodyPr wrap="square" rtlCol="0" anchor="ctr"/>
          <a:lstStyle/>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Advanced Data Structures</a:t>
            </a:r>
            <a:endParaRPr lang="en-US" sz="1200" dirty="0"/>
          </a:p>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Advanced Algorithms</a:t>
            </a:r>
            <a:endParaRPr lang="en-US" sz="1200" dirty="0"/>
          </a:p>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Object-Oriented Programming</a:t>
            </a:r>
            <a:endParaRPr lang="en-US" sz="1200" dirty="0"/>
          </a:p>
        </p:txBody>
      </p:sp>
      <p:sp>
        <p:nvSpPr>
          <p:cNvPr id="13" name="Shape 9"/>
          <p:cNvSpPr/>
          <p:nvPr/>
        </p:nvSpPr>
        <p:spPr>
          <a:xfrm>
            <a:off x="8010144" y="1234440"/>
            <a:ext cx="3639312" cy="2606040"/>
          </a:xfrm>
          <a:prstGeom prst="roundRect">
            <a:avLst>
              <a:gd name="adj" fmla="val 4211"/>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14" name="Shape 10"/>
          <p:cNvSpPr/>
          <p:nvPr/>
        </p:nvSpPr>
        <p:spPr>
          <a:xfrm>
            <a:off x="8284464" y="1508760"/>
            <a:ext cx="640080" cy="640080"/>
          </a:xfrm>
          <a:prstGeom prst="ellipse">
            <a:avLst/>
          </a:prstGeom>
          <a:solidFill>
            <a:srgbClr val="F2A541"/>
          </a:solidFill>
          <a:ln/>
        </p:spPr>
      </p:sp>
      <p:pic>
        <p:nvPicPr>
          <p:cNvPr id="15" name="Image 2" descr="icons/database_FFFFFF.png"/>
          <p:cNvPicPr>
            <a:picLocks noChangeAspect="1"/>
          </p:cNvPicPr>
          <p:nvPr/>
        </p:nvPicPr>
        <p:blipFill>
          <a:blip r:embed="rId5"/>
          <a:stretch>
            <a:fillRect/>
          </a:stretch>
        </p:blipFill>
        <p:spPr>
          <a:xfrm>
            <a:off x="8421624" y="1645920"/>
            <a:ext cx="365760" cy="365760"/>
          </a:xfrm>
          <a:prstGeom prst="rect">
            <a:avLst/>
          </a:prstGeom>
        </p:spPr>
      </p:pic>
      <p:sp>
        <p:nvSpPr>
          <p:cNvPr id="16" name="Text 11"/>
          <p:cNvSpPr/>
          <p:nvPr/>
        </p:nvSpPr>
        <p:spPr>
          <a:xfrm>
            <a:off x="8284464" y="2258568"/>
            <a:ext cx="3090672" cy="411480"/>
          </a:xfrm>
          <a:prstGeom prst="rect">
            <a:avLst/>
          </a:prstGeom>
          <a:noFill/>
          <a:ln/>
        </p:spPr>
        <p:txBody>
          <a:bodyPr wrap="square" rtlCol="0" anchor="ctr"/>
          <a:lstStyle/>
          <a:p>
            <a:pPr marL="0" indent="0">
              <a:buNone/>
            </a:pPr>
            <a:r>
              <a:rPr lang="en-US" sz="1450" b="1" dirty="0">
                <a:solidFill>
                  <a:srgbClr val="1A2233"/>
                </a:solidFill>
                <a:latin typeface="Calibri" pitchFamily="34" charset="0"/>
                <a:ea typeface="Calibri" pitchFamily="34" charset="-122"/>
                <a:cs typeface="Calibri" pitchFamily="34" charset="-120"/>
              </a:rPr>
              <a:t>Data Storage</a:t>
            </a:r>
            <a:endParaRPr lang="en-US" sz="1450" dirty="0"/>
          </a:p>
        </p:txBody>
      </p:sp>
      <p:sp>
        <p:nvSpPr>
          <p:cNvPr id="17" name="Text 12"/>
          <p:cNvSpPr/>
          <p:nvPr/>
        </p:nvSpPr>
        <p:spPr>
          <a:xfrm>
            <a:off x="8284464" y="2697480"/>
            <a:ext cx="3090672" cy="1005840"/>
          </a:xfrm>
          <a:prstGeom prst="rect">
            <a:avLst/>
          </a:prstGeom>
          <a:noFill/>
          <a:ln/>
        </p:spPr>
        <p:txBody>
          <a:bodyPr wrap="square" rtlCol="0" anchor="ctr"/>
          <a:lstStyle/>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Text Files (Initial Phase)</a:t>
            </a:r>
            <a:endParaRPr lang="en-US" sz="1200" dirty="0"/>
          </a:p>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Collections Framework</a:t>
            </a:r>
            <a:endParaRPr lang="en-US" sz="1200" dirty="0"/>
          </a:p>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Database considered in future</a:t>
            </a:r>
            <a:endParaRPr lang="en-US" sz="1200" dirty="0"/>
          </a:p>
        </p:txBody>
      </p:sp>
      <p:sp>
        <p:nvSpPr>
          <p:cNvPr id="18" name="Shape 13"/>
          <p:cNvSpPr/>
          <p:nvPr/>
        </p:nvSpPr>
        <p:spPr>
          <a:xfrm>
            <a:off x="2414016" y="4069080"/>
            <a:ext cx="3639312" cy="2606040"/>
          </a:xfrm>
          <a:prstGeom prst="roundRect">
            <a:avLst>
              <a:gd name="adj" fmla="val 4211"/>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19" name="Shape 14"/>
          <p:cNvSpPr/>
          <p:nvPr/>
        </p:nvSpPr>
        <p:spPr>
          <a:xfrm>
            <a:off x="2688336" y="4343400"/>
            <a:ext cx="640080" cy="640080"/>
          </a:xfrm>
          <a:prstGeom prst="ellipse">
            <a:avLst/>
          </a:prstGeom>
          <a:solidFill>
            <a:srgbClr val="2E86AB"/>
          </a:solidFill>
          <a:ln/>
        </p:spPr>
      </p:sp>
      <p:pic>
        <p:nvPicPr>
          <p:cNvPr id="20" name="Image 3" descr="icons/laptop_FFFFFF.png"/>
          <p:cNvPicPr>
            <a:picLocks noChangeAspect="1"/>
          </p:cNvPicPr>
          <p:nvPr/>
        </p:nvPicPr>
        <p:blipFill>
          <a:blip r:embed="rId6"/>
          <a:stretch>
            <a:fillRect/>
          </a:stretch>
        </p:blipFill>
        <p:spPr>
          <a:xfrm>
            <a:off x="2825496" y="4480560"/>
            <a:ext cx="365760" cy="365760"/>
          </a:xfrm>
          <a:prstGeom prst="rect">
            <a:avLst/>
          </a:prstGeom>
        </p:spPr>
      </p:pic>
      <p:sp>
        <p:nvSpPr>
          <p:cNvPr id="21" name="Text 15"/>
          <p:cNvSpPr/>
          <p:nvPr/>
        </p:nvSpPr>
        <p:spPr>
          <a:xfrm>
            <a:off x="2688336" y="5093208"/>
            <a:ext cx="3090672" cy="411480"/>
          </a:xfrm>
          <a:prstGeom prst="rect">
            <a:avLst/>
          </a:prstGeom>
          <a:noFill/>
          <a:ln/>
        </p:spPr>
        <p:txBody>
          <a:bodyPr wrap="square" rtlCol="0" anchor="ctr"/>
          <a:lstStyle/>
          <a:p>
            <a:pPr marL="0" indent="0">
              <a:buNone/>
            </a:pPr>
            <a:r>
              <a:rPr lang="en-US" sz="1450" b="1" dirty="0">
                <a:solidFill>
                  <a:srgbClr val="1A2233"/>
                </a:solidFill>
                <a:latin typeface="Calibri" pitchFamily="34" charset="0"/>
                <a:ea typeface="Calibri" pitchFamily="34" charset="-122"/>
                <a:cs typeface="Calibri" pitchFamily="34" charset="-120"/>
              </a:rPr>
              <a:t>Development Environment</a:t>
            </a:r>
            <a:endParaRPr lang="en-US" sz="1450" dirty="0"/>
          </a:p>
        </p:txBody>
      </p:sp>
      <p:sp>
        <p:nvSpPr>
          <p:cNvPr id="22" name="Text 16"/>
          <p:cNvSpPr/>
          <p:nvPr/>
        </p:nvSpPr>
        <p:spPr>
          <a:xfrm>
            <a:off x="2688336" y="5532120"/>
            <a:ext cx="3090672" cy="1005840"/>
          </a:xfrm>
          <a:prstGeom prst="rect">
            <a:avLst/>
          </a:prstGeom>
          <a:noFill/>
          <a:ln/>
        </p:spPr>
        <p:txBody>
          <a:bodyPr wrap="square" rtlCol="0" anchor="ctr"/>
          <a:lstStyle/>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IntelliJ IDEA</a:t>
            </a:r>
            <a:endParaRPr lang="en-US" sz="1200" dirty="0"/>
          </a:p>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Eclipse</a:t>
            </a:r>
            <a:endParaRPr lang="en-US" sz="1200" dirty="0"/>
          </a:p>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VS Code</a:t>
            </a:r>
            <a:endParaRPr lang="en-US" sz="1200" dirty="0"/>
          </a:p>
        </p:txBody>
      </p:sp>
      <p:sp>
        <p:nvSpPr>
          <p:cNvPr id="23" name="Shape 17"/>
          <p:cNvSpPr/>
          <p:nvPr/>
        </p:nvSpPr>
        <p:spPr>
          <a:xfrm>
            <a:off x="6144768" y="4069080"/>
            <a:ext cx="3639312" cy="2606040"/>
          </a:xfrm>
          <a:prstGeom prst="roundRect">
            <a:avLst>
              <a:gd name="adj" fmla="val 4211"/>
            </a:avLst>
          </a:prstGeom>
          <a:solidFill>
            <a:srgbClr val="FFFFFF"/>
          </a:solidFill>
          <a:ln w="12700">
            <a:solidFill>
              <a:srgbClr val="E3E8F0"/>
            </a:solidFill>
            <a:prstDash val="solid"/>
          </a:ln>
          <a:effectLst>
            <a:outerShdw blurRad="88900" dist="38100" dir="5400000" algn="bl" rotWithShape="0">
              <a:srgbClr val="1A2233">
                <a:alpha val="10000"/>
              </a:srgbClr>
            </a:outerShdw>
          </a:effectLst>
        </p:spPr>
      </p:sp>
      <p:sp>
        <p:nvSpPr>
          <p:cNvPr id="24" name="Shape 18"/>
          <p:cNvSpPr/>
          <p:nvPr/>
        </p:nvSpPr>
        <p:spPr>
          <a:xfrm>
            <a:off x="6419088" y="4343400"/>
            <a:ext cx="640080" cy="640080"/>
          </a:xfrm>
          <a:prstGeom prst="ellipse">
            <a:avLst/>
          </a:prstGeom>
          <a:solidFill>
            <a:srgbClr val="0B1F3A"/>
          </a:solidFill>
          <a:ln/>
        </p:spPr>
      </p:sp>
      <p:pic>
        <p:nvPicPr>
          <p:cNvPr id="25" name="Image 4" descr="icons/git_FFFFFF.png"/>
          <p:cNvPicPr>
            <a:picLocks noChangeAspect="1"/>
          </p:cNvPicPr>
          <p:nvPr/>
        </p:nvPicPr>
        <p:blipFill>
          <a:blip r:embed="rId7"/>
          <a:stretch>
            <a:fillRect/>
          </a:stretch>
        </p:blipFill>
        <p:spPr>
          <a:xfrm>
            <a:off x="6556248" y="4480560"/>
            <a:ext cx="365760" cy="365760"/>
          </a:xfrm>
          <a:prstGeom prst="rect">
            <a:avLst/>
          </a:prstGeom>
        </p:spPr>
      </p:pic>
      <p:sp>
        <p:nvSpPr>
          <p:cNvPr id="26" name="Text 19"/>
          <p:cNvSpPr/>
          <p:nvPr/>
        </p:nvSpPr>
        <p:spPr>
          <a:xfrm>
            <a:off x="6419088" y="5093208"/>
            <a:ext cx="3090672" cy="411480"/>
          </a:xfrm>
          <a:prstGeom prst="rect">
            <a:avLst/>
          </a:prstGeom>
          <a:noFill/>
          <a:ln/>
        </p:spPr>
        <p:txBody>
          <a:bodyPr wrap="square" rtlCol="0" anchor="ctr"/>
          <a:lstStyle/>
          <a:p>
            <a:pPr marL="0" indent="0">
              <a:buNone/>
            </a:pPr>
            <a:r>
              <a:rPr lang="en-US" sz="1450" b="1" dirty="0">
                <a:solidFill>
                  <a:srgbClr val="1A2233"/>
                </a:solidFill>
                <a:latin typeface="Calibri" pitchFamily="34" charset="0"/>
                <a:ea typeface="Calibri" pitchFamily="34" charset="-122"/>
                <a:cs typeface="Calibri" pitchFamily="34" charset="-120"/>
              </a:rPr>
              <a:t>Version Control</a:t>
            </a:r>
            <a:endParaRPr lang="en-US" sz="1450" dirty="0"/>
          </a:p>
        </p:txBody>
      </p:sp>
      <p:sp>
        <p:nvSpPr>
          <p:cNvPr id="27" name="Text 20"/>
          <p:cNvSpPr/>
          <p:nvPr/>
        </p:nvSpPr>
        <p:spPr>
          <a:xfrm>
            <a:off x="6419088" y="5532120"/>
            <a:ext cx="3090672" cy="1005840"/>
          </a:xfrm>
          <a:prstGeom prst="rect">
            <a:avLst/>
          </a:prstGeom>
          <a:noFill/>
          <a:ln/>
        </p:spPr>
        <p:txBody>
          <a:bodyPr wrap="square" rtlCol="0" anchor="ctr"/>
          <a:lstStyle/>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Git</a:t>
            </a:r>
            <a:endParaRPr lang="en-US" sz="1200" dirty="0"/>
          </a:p>
          <a:p>
            <a:pPr marL="342900" indent="-342900">
              <a:lnSpc>
                <a:spcPct val="115000"/>
              </a:lnSpc>
              <a:spcAft>
                <a:spcPts val="400"/>
              </a:spcAft>
              <a:buSzPct val="100000"/>
              <a:buChar char="•"/>
            </a:pPr>
            <a:r>
              <a:rPr lang="en-US" sz="1200" dirty="0">
                <a:solidFill>
                  <a:srgbClr val="5B677A"/>
                </a:solidFill>
                <a:latin typeface="Calibri" pitchFamily="34" charset="0"/>
                <a:ea typeface="Calibri" pitchFamily="34" charset="-122"/>
                <a:cs typeface="Calibri" pitchFamily="34" charset="-120"/>
              </a:rPr>
              <a:t>GitHub</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9811512" y="3931920"/>
            <a:ext cx="2926080" cy="2926080"/>
          </a:xfrm>
          <a:prstGeom prst="ellipse">
            <a:avLst/>
          </a:prstGeom>
          <a:ln w="12700">
            <a:solidFill>
              <a:srgbClr val="2E86AB">
                <a:alpha val="45000"/>
              </a:srgbClr>
            </a:solidFill>
            <a:prstDash val="solid"/>
          </a:ln>
        </p:spPr>
      </p:sp>
      <p:sp>
        <p:nvSpPr>
          <p:cNvPr id="3" name="Shape 1"/>
          <p:cNvSpPr/>
          <p:nvPr/>
        </p:nvSpPr>
        <p:spPr>
          <a:xfrm>
            <a:off x="9308592" y="3429000"/>
            <a:ext cx="3931920" cy="3931920"/>
          </a:xfrm>
          <a:prstGeom prst="ellipse">
            <a:avLst/>
          </a:prstGeom>
          <a:ln w="12700">
            <a:solidFill>
              <a:srgbClr val="2E86AB">
                <a:alpha val="45000"/>
              </a:srgbClr>
            </a:solidFill>
            <a:prstDash val="solid"/>
          </a:ln>
        </p:spPr>
      </p:sp>
      <p:sp>
        <p:nvSpPr>
          <p:cNvPr id="4" name="Shape 2"/>
          <p:cNvSpPr/>
          <p:nvPr/>
        </p:nvSpPr>
        <p:spPr>
          <a:xfrm>
            <a:off x="8805672" y="2926080"/>
            <a:ext cx="4937760" cy="4937760"/>
          </a:xfrm>
          <a:prstGeom prst="ellipse">
            <a:avLst/>
          </a:prstGeom>
          <a:ln w="12700">
            <a:solidFill>
              <a:srgbClr val="2E86AB">
                <a:alpha val="45000"/>
              </a:srgbClr>
            </a:solidFill>
            <a:prstDash val="solid"/>
          </a:ln>
        </p:spPr>
      </p:sp>
      <p:sp>
        <p:nvSpPr>
          <p:cNvPr id="5" name="Text 3"/>
          <p:cNvSpPr/>
          <p:nvPr/>
        </p:nvSpPr>
        <p:spPr>
          <a:xfrm>
            <a:off x="640080" y="502920"/>
            <a:ext cx="9144000" cy="5943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Expected Outcome</a:t>
            </a:r>
            <a:endParaRPr lang="en-US" sz="3200" dirty="0"/>
          </a:p>
        </p:txBody>
      </p:sp>
      <p:sp>
        <p:nvSpPr>
          <p:cNvPr id="6" name="Text 4"/>
          <p:cNvSpPr/>
          <p:nvPr/>
        </p:nvSpPr>
        <p:spPr>
          <a:xfrm>
            <a:off x="640080" y="1097280"/>
            <a:ext cx="8229600" cy="365760"/>
          </a:xfrm>
          <a:prstGeom prst="rect">
            <a:avLst/>
          </a:prstGeom>
          <a:noFill/>
          <a:ln/>
        </p:spPr>
        <p:txBody>
          <a:bodyPr wrap="square" rtlCol="0" anchor="ctr"/>
          <a:lstStyle/>
          <a:p>
            <a:pPr marL="0" indent="0">
              <a:buNone/>
            </a:pPr>
            <a:r>
              <a:rPr lang="en-US" sz="1350" i="1" dirty="0">
                <a:solidFill>
                  <a:srgbClr val="F2A541"/>
                </a:solidFill>
                <a:latin typeface="Calibri" pitchFamily="34" charset="0"/>
                <a:ea typeface="Calibri" pitchFamily="34" charset="-122"/>
                <a:cs typeface="Calibri" pitchFamily="34" charset="-120"/>
              </a:rPr>
              <a:t>What AeroSync will deliver by the end of the course</a:t>
            </a:r>
            <a:endParaRPr lang="en-US" sz="1350" dirty="0"/>
          </a:p>
        </p:txBody>
      </p:sp>
      <p:sp>
        <p:nvSpPr>
          <p:cNvPr id="7" name="Shape 5"/>
          <p:cNvSpPr/>
          <p:nvPr/>
        </p:nvSpPr>
        <p:spPr>
          <a:xfrm>
            <a:off x="640080" y="1801368"/>
            <a:ext cx="365760" cy="365760"/>
          </a:xfrm>
          <a:prstGeom prst="ellipse">
            <a:avLst/>
          </a:prstGeom>
          <a:solidFill>
            <a:srgbClr val="2E86AB"/>
          </a:solidFill>
          <a:ln/>
        </p:spPr>
      </p:sp>
      <p:pic>
        <p:nvPicPr>
          <p:cNvPr id="8" name="Image 0" descr="icons/check_FFFFFF.png"/>
          <p:cNvPicPr>
            <a:picLocks noChangeAspect="1"/>
          </p:cNvPicPr>
          <p:nvPr/>
        </p:nvPicPr>
        <p:blipFill>
          <a:blip r:embed="rId3"/>
          <a:stretch>
            <a:fillRect/>
          </a:stretch>
        </p:blipFill>
        <p:spPr>
          <a:xfrm>
            <a:off x="722376" y="1883664"/>
            <a:ext cx="201168" cy="201168"/>
          </a:xfrm>
          <a:prstGeom prst="rect">
            <a:avLst/>
          </a:prstGeom>
        </p:spPr>
      </p:pic>
      <p:sp>
        <p:nvSpPr>
          <p:cNvPr id="9" name="Text 6"/>
          <p:cNvSpPr/>
          <p:nvPr/>
        </p:nvSpPr>
        <p:spPr>
          <a:xfrm>
            <a:off x="1188720" y="1755648"/>
            <a:ext cx="10241280" cy="457200"/>
          </a:xfrm>
          <a:prstGeom prst="rect">
            <a:avLst/>
          </a:prstGeom>
          <a:noFill/>
          <a:ln/>
        </p:spPr>
        <p:txBody>
          <a:bodyPr wrap="square" rtlCol="0" anchor="ctr"/>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Develop a centralized aviation information management system.</a:t>
            </a:r>
            <a:endParaRPr lang="en-US" sz="1450" dirty="0"/>
          </a:p>
        </p:txBody>
      </p:sp>
      <p:sp>
        <p:nvSpPr>
          <p:cNvPr id="10" name="Shape 7"/>
          <p:cNvSpPr/>
          <p:nvPr/>
        </p:nvSpPr>
        <p:spPr>
          <a:xfrm>
            <a:off x="640080" y="2423160"/>
            <a:ext cx="365760" cy="365760"/>
          </a:xfrm>
          <a:prstGeom prst="ellipse">
            <a:avLst/>
          </a:prstGeom>
          <a:solidFill>
            <a:srgbClr val="2E86AB"/>
          </a:solidFill>
          <a:ln/>
        </p:spPr>
      </p:sp>
      <p:pic>
        <p:nvPicPr>
          <p:cNvPr id="11" name="Image 1" descr="icons/check_FFFFFF.png"/>
          <p:cNvPicPr>
            <a:picLocks noChangeAspect="1"/>
          </p:cNvPicPr>
          <p:nvPr/>
        </p:nvPicPr>
        <p:blipFill>
          <a:blip r:embed="rId3"/>
          <a:stretch>
            <a:fillRect/>
          </a:stretch>
        </p:blipFill>
        <p:spPr>
          <a:xfrm>
            <a:off x="722376" y="2505456"/>
            <a:ext cx="201168" cy="201168"/>
          </a:xfrm>
          <a:prstGeom prst="rect">
            <a:avLst/>
          </a:prstGeom>
        </p:spPr>
      </p:pic>
      <p:sp>
        <p:nvSpPr>
          <p:cNvPr id="12" name="Text 8"/>
          <p:cNvSpPr/>
          <p:nvPr/>
        </p:nvSpPr>
        <p:spPr>
          <a:xfrm>
            <a:off x="1188720" y="2377440"/>
            <a:ext cx="10241280" cy="713232"/>
          </a:xfrm>
          <a:prstGeom prst="rect">
            <a:avLst/>
          </a:prstGeom>
          <a:noFill/>
          <a:ln/>
        </p:spPr>
        <p:txBody>
          <a:bodyPr wrap="square" rtlCol="0" anchor="ctr"/>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Enable efficient searching of flights, airports, aircraft, crew, and passenger information.</a:t>
            </a:r>
            <a:endParaRPr lang="en-US" sz="1450" dirty="0"/>
          </a:p>
        </p:txBody>
      </p:sp>
      <p:sp>
        <p:nvSpPr>
          <p:cNvPr id="13" name="Shape 9"/>
          <p:cNvSpPr/>
          <p:nvPr/>
        </p:nvSpPr>
        <p:spPr>
          <a:xfrm>
            <a:off x="640080" y="3300984"/>
            <a:ext cx="365760" cy="365760"/>
          </a:xfrm>
          <a:prstGeom prst="ellipse">
            <a:avLst/>
          </a:prstGeom>
          <a:solidFill>
            <a:srgbClr val="2E86AB"/>
          </a:solidFill>
          <a:ln/>
        </p:spPr>
      </p:sp>
      <p:pic>
        <p:nvPicPr>
          <p:cNvPr id="14" name="Image 2" descr="icons/check_FFFFFF.png"/>
          <p:cNvPicPr>
            <a:picLocks noChangeAspect="1"/>
          </p:cNvPicPr>
          <p:nvPr/>
        </p:nvPicPr>
        <p:blipFill>
          <a:blip r:embed="rId3"/>
          <a:stretch>
            <a:fillRect/>
          </a:stretch>
        </p:blipFill>
        <p:spPr>
          <a:xfrm>
            <a:off x="722376" y="3383280"/>
            <a:ext cx="201168" cy="201168"/>
          </a:xfrm>
          <a:prstGeom prst="rect">
            <a:avLst/>
          </a:prstGeom>
        </p:spPr>
      </p:pic>
      <p:sp>
        <p:nvSpPr>
          <p:cNvPr id="15" name="Text 10"/>
          <p:cNvSpPr/>
          <p:nvPr/>
        </p:nvSpPr>
        <p:spPr>
          <a:xfrm>
            <a:off x="1188720" y="3255264"/>
            <a:ext cx="10241280" cy="713232"/>
          </a:xfrm>
          <a:prstGeom prst="rect">
            <a:avLst/>
          </a:prstGeom>
          <a:noFill/>
          <a:ln/>
        </p:spPr>
        <p:txBody>
          <a:bodyPr wrap="square" rtlCol="0" anchor="ctr"/>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Improve operational decision-making through intelligent search and algorithmic techniques.</a:t>
            </a:r>
            <a:endParaRPr lang="en-US" sz="1450" dirty="0"/>
          </a:p>
        </p:txBody>
      </p:sp>
      <p:sp>
        <p:nvSpPr>
          <p:cNvPr id="16" name="Shape 11"/>
          <p:cNvSpPr/>
          <p:nvPr/>
        </p:nvSpPr>
        <p:spPr>
          <a:xfrm>
            <a:off x="640080" y="4178808"/>
            <a:ext cx="365760" cy="365760"/>
          </a:xfrm>
          <a:prstGeom prst="ellipse">
            <a:avLst/>
          </a:prstGeom>
          <a:solidFill>
            <a:srgbClr val="2E86AB"/>
          </a:solidFill>
          <a:ln/>
        </p:spPr>
      </p:sp>
      <p:pic>
        <p:nvPicPr>
          <p:cNvPr id="17" name="Image 3" descr="icons/check_FFFFFF.png"/>
          <p:cNvPicPr>
            <a:picLocks noChangeAspect="1"/>
          </p:cNvPicPr>
          <p:nvPr/>
        </p:nvPicPr>
        <p:blipFill>
          <a:blip r:embed="rId3"/>
          <a:stretch>
            <a:fillRect/>
          </a:stretch>
        </p:blipFill>
        <p:spPr>
          <a:xfrm>
            <a:off x="722376" y="4261104"/>
            <a:ext cx="201168" cy="201168"/>
          </a:xfrm>
          <a:prstGeom prst="rect">
            <a:avLst/>
          </a:prstGeom>
        </p:spPr>
      </p:pic>
      <p:sp>
        <p:nvSpPr>
          <p:cNvPr id="18" name="Text 12"/>
          <p:cNvSpPr/>
          <p:nvPr/>
        </p:nvSpPr>
        <p:spPr>
          <a:xfrm>
            <a:off x="1188720" y="4133088"/>
            <a:ext cx="10241280" cy="457200"/>
          </a:xfrm>
          <a:prstGeom prst="rect">
            <a:avLst/>
          </a:prstGeom>
          <a:noFill/>
          <a:ln/>
        </p:spPr>
        <p:txBody>
          <a:bodyPr wrap="square" rtlCol="0" anchor="ctr"/>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Demonstrate practical applications of advanced Data Structures and Algorithms.</a:t>
            </a:r>
            <a:endParaRPr lang="en-US" sz="1450" dirty="0"/>
          </a:p>
        </p:txBody>
      </p:sp>
      <p:sp>
        <p:nvSpPr>
          <p:cNvPr id="19" name="Shape 13"/>
          <p:cNvSpPr/>
          <p:nvPr/>
        </p:nvSpPr>
        <p:spPr>
          <a:xfrm>
            <a:off x="640080" y="4800600"/>
            <a:ext cx="365760" cy="365760"/>
          </a:xfrm>
          <a:prstGeom prst="ellipse">
            <a:avLst/>
          </a:prstGeom>
          <a:solidFill>
            <a:srgbClr val="2E86AB"/>
          </a:solidFill>
          <a:ln/>
        </p:spPr>
      </p:sp>
      <p:pic>
        <p:nvPicPr>
          <p:cNvPr id="20" name="Image 4" descr="icons/check_FFFFFF.png"/>
          <p:cNvPicPr>
            <a:picLocks noChangeAspect="1"/>
          </p:cNvPicPr>
          <p:nvPr/>
        </p:nvPicPr>
        <p:blipFill>
          <a:blip r:embed="rId3"/>
          <a:stretch>
            <a:fillRect/>
          </a:stretch>
        </p:blipFill>
        <p:spPr>
          <a:xfrm>
            <a:off x="722376" y="4882896"/>
            <a:ext cx="201168" cy="201168"/>
          </a:xfrm>
          <a:prstGeom prst="rect">
            <a:avLst/>
          </a:prstGeom>
        </p:spPr>
      </p:pic>
      <p:sp>
        <p:nvSpPr>
          <p:cNvPr id="21" name="Text 14"/>
          <p:cNvSpPr/>
          <p:nvPr/>
        </p:nvSpPr>
        <p:spPr>
          <a:xfrm>
            <a:off x="1188720" y="4754880"/>
            <a:ext cx="10241280" cy="713232"/>
          </a:xfrm>
          <a:prstGeom prst="rect">
            <a:avLst/>
          </a:prstGeom>
          <a:noFill/>
          <a:ln/>
        </p:spPr>
        <p:txBody>
          <a:bodyPr wrap="square" rtlCol="0" anchor="ctr"/>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Build a scalable project that can be enhanced with advanced scheduling, matching, and optimization techniques throughout the course.</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554</Words>
  <Application>Microsoft Office PowerPoint</Application>
  <PresentationFormat>Widescreen</PresentationFormat>
  <Paragraphs>82</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advaitha k</cp:lastModifiedBy>
  <cp:revision>2</cp:revision>
  <dcterms:created xsi:type="dcterms:W3CDTF">2026-08-02T16:31:46Z</dcterms:created>
  <dcterms:modified xsi:type="dcterms:W3CDTF">2026-08-02T18:45:01Z</dcterms:modified>
</cp:coreProperties>
</file>